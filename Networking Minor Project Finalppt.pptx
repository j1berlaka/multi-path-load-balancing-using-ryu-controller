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1132800" cy="5806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7623915" y="0"/>
            <a:ext cx="21132800" cy="5806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912138" y="1446609"/>
            <a:ext cx="6943725" cy="390584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876800" y="5569446"/>
            <a:ext cx="39014400" cy="455682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992223"/>
            <a:ext cx="21132800" cy="5806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7623915" y="10992223"/>
            <a:ext cx="21132800" cy="5806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99516"/>
            <a:ext cx="18288000" cy="957929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9175559"/>
            <a:ext cx="18288000" cy="12700"/>
          </a:xfrm>
          <a:custGeom>
            <a:avLst/>
            <a:gdLst/>
            <a:ahLst/>
            <a:cxnLst/>
            <a:rect l="l" t="t" r="r" b="b"/>
            <a:pathLst>
              <a:path w="18288000" h="12700">
                <a:moveTo>
                  <a:pt x="18288000" y="12700"/>
                </a:moveTo>
                <a:lnTo>
                  <a:pt x="0" y="127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2700"/>
                </a:lnTo>
                <a:close/>
              </a:path>
            </a:pathLst>
          </a:custGeom>
          <a:solidFill>
            <a:srgbClr val="00000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99516"/>
            <a:ext cx="18288000" cy="957929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9175559"/>
            <a:ext cx="18288000" cy="12700"/>
          </a:xfrm>
          <a:custGeom>
            <a:avLst/>
            <a:gdLst/>
            <a:ahLst/>
            <a:cxnLst/>
            <a:rect l="l" t="t" r="r" b="b"/>
            <a:pathLst>
              <a:path w="18288000" h="12700">
                <a:moveTo>
                  <a:pt x="18288000" y="12700"/>
                </a:moveTo>
                <a:lnTo>
                  <a:pt x="0" y="127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2700"/>
                </a:lnTo>
                <a:close/>
              </a:path>
            </a:pathLst>
          </a:custGeom>
          <a:solidFill>
            <a:srgbClr val="000001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5786811" y="964564"/>
            <a:ext cx="309880" cy="233045"/>
          </a:xfrm>
          <a:custGeom>
            <a:avLst/>
            <a:gdLst/>
            <a:ahLst/>
            <a:cxnLst/>
            <a:rect l="l" t="t" r="r" b="b"/>
            <a:pathLst>
              <a:path w="309880" h="233044">
                <a:moveTo>
                  <a:pt x="140322" y="0"/>
                </a:moveTo>
                <a:lnTo>
                  <a:pt x="41541" y="0"/>
                </a:lnTo>
                <a:lnTo>
                  <a:pt x="0" y="233045"/>
                </a:lnTo>
                <a:lnTo>
                  <a:pt x="98780" y="233045"/>
                </a:lnTo>
                <a:lnTo>
                  <a:pt x="140322" y="0"/>
                </a:lnTo>
                <a:close/>
              </a:path>
              <a:path w="309880" h="233044">
                <a:moveTo>
                  <a:pt x="309664" y="0"/>
                </a:moveTo>
                <a:lnTo>
                  <a:pt x="210883" y="0"/>
                </a:lnTo>
                <a:lnTo>
                  <a:pt x="169341" y="233045"/>
                </a:lnTo>
                <a:lnTo>
                  <a:pt x="268122" y="233045"/>
                </a:lnTo>
                <a:lnTo>
                  <a:pt x="309664" y="0"/>
                </a:lnTo>
                <a:close/>
              </a:path>
            </a:pathLst>
          </a:custGeom>
          <a:solidFill>
            <a:srgbClr val="606E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763797" y="964564"/>
            <a:ext cx="11994515" cy="233045"/>
          </a:xfrm>
          <a:custGeom>
            <a:avLst/>
            <a:gdLst/>
            <a:ahLst/>
            <a:cxnLst/>
            <a:rect l="l" t="t" r="r" b="b"/>
            <a:pathLst>
              <a:path w="11994515" h="233044">
                <a:moveTo>
                  <a:pt x="140322" y="0"/>
                </a:moveTo>
                <a:lnTo>
                  <a:pt x="41541" y="0"/>
                </a:lnTo>
                <a:lnTo>
                  <a:pt x="0" y="233045"/>
                </a:lnTo>
                <a:lnTo>
                  <a:pt x="98780" y="233045"/>
                </a:lnTo>
                <a:lnTo>
                  <a:pt x="140322" y="0"/>
                </a:lnTo>
                <a:close/>
              </a:path>
              <a:path w="11994515" h="233044">
                <a:moveTo>
                  <a:pt x="309664" y="0"/>
                </a:moveTo>
                <a:lnTo>
                  <a:pt x="210883" y="0"/>
                </a:lnTo>
                <a:lnTo>
                  <a:pt x="169341" y="233045"/>
                </a:lnTo>
                <a:lnTo>
                  <a:pt x="268122" y="233045"/>
                </a:lnTo>
                <a:lnTo>
                  <a:pt x="309664" y="0"/>
                </a:lnTo>
                <a:close/>
              </a:path>
              <a:path w="11994515" h="233044">
                <a:moveTo>
                  <a:pt x="479005" y="0"/>
                </a:moveTo>
                <a:lnTo>
                  <a:pt x="380225" y="0"/>
                </a:lnTo>
                <a:lnTo>
                  <a:pt x="338670" y="233045"/>
                </a:lnTo>
                <a:lnTo>
                  <a:pt x="437451" y="233045"/>
                </a:lnTo>
                <a:lnTo>
                  <a:pt x="479005" y="0"/>
                </a:lnTo>
                <a:close/>
              </a:path>
              <a:path w="11994515" h="233044">
                <a:moveTo>
                  <a:pt x="648335" y="0"/>
                </a:moveTo>
                <a:lnTo>
                  <a:pt x="549554" y="0"/>
                </a:lnTo>
                <a:lnTo>
                  <a:pt x="508012" y="233045"/>
                </a:lnTo>
                <a:lnTo>
                  <a:pt x="606793" y="233045"/>
                </a:lnTo>
                <a:lnTo>
                  <a:pt x="648335" y="0"/>
                </a:lnTo>
                <a:close/>
              </a:path>
              <a:path w="11994515" h="233044">
                <a:moveTo>
                  <a:pt x="817676" y="0"/>
                </a:moveTo>
                <a:lnTo>
                  <a:pt x="718896" y="0"/>
                </a:lnTo>
                <a:lnTo>
                  <a:pt x="677354" y="233045"/>
                </a:lnTo>
                <a:lnTo>
                  <a:pt x="776135" y="233045"/>
                </a:lnTo>
                <a:lnTo>
                  <a:pt x="817676" y="0"/>
                </a:lnTo>
                <a:close/>
              </a:path>
              <a:path w="11994515" h="233044">
                <a:moveTo>
                  <a:pt x="987018" y="0"/>
                </a:moveTo>
                <a:lnTo>
                  <a:pt x="888238" y="0"/>
                </a:lnTo>
                <a:lnTo>
                  <a:pt x="846696" y="233045"/>
                </a:lnTo>
                <a:lnTo>
                  <a:pt x="945476" y="233045"/>
                </a:lnTo>
                <a:lnTo>
                  <a:pt x="987018" y="0"/>
                </a:lnTo>
                <a:close/>
              </a:path>
              <a:path w="11994515" h="233044">
                <a:moveTo>
                  <a:pt x="1156347" y="0"/>
                </a:moveTo>
                <a:lnTo>
                  <a:pt x="1057567" y="0"/>
                </a:lnTo>
                <a:lnTo>
                  <a:pt x="1016025" y="233045"/>
                </a:lnTo>
                <a:lnTo>
                  <a:pt x="1114806" y="233045"/>
                </a:lnTo>
                <a:lnTo>
                  <a:pt x="1156347" y="0"/>
                </a:lnTo>
                <a:close/>
              </a:path>
              <a:path w="11994515" h="233044">
                <a:moveTo>
                  <a:pt x="1325689" y="0"/>
                </a:moveTo>
                <a:lnTo>
                  <a:pt x="1226908" y="0"/>
                </a:lnTo>
                <a:lnTo>
                  <a:pt x="1185367" y="233045"/>
                </a:lnTo>
                <a:lnTo>
                  <a:pt x="1284147" y="233045"/>
                </a:lnTo>
                <a:lnTo>
                  <a:pt x="1325689" y="0"/>
                </a:lnTo>
                <a:close/>
              </a:path>
              <a:path w="11994515" h="233044">
                <a:moveTo>
                  <a:pt x="1495031" y="0"/>
                </a:moveTo>
                <a:lnTo>
                  <a:pt x="1396250" y="0"/>
                </a:lnTo>
                <a:lnTo>
                  <a:pt x="1354709" y="233045"/>
                </a:lnTo>
                <a:lnTo>
                  <a:pt x="1453489" y="233045"/>
                </a:lnTo>
                <a:lnTo>
                  <a:pt x="1495031" y="0"/>
                </a:lnTo>
                <a:close/>
              </a:path>
              <a:path w="11994515" h="233044">
                <a:moveTo>
                  <a:pt x="1664373" y="0"/>
                </a:moveTo>
                <a:lnTo>
                  <a:pt x="1565592" y="0"/>
                </a:lnTo>
                <a:lnTo>
                  <a:pt x="1524038" y="233045"/>
                </a:lnTo>
                <a:lnTo>
                  <a:pt x="1622818" y="233045"/>
                </a:lnTo>
                <a:lnTo>
                  <a:pt x="1664373" y="0"/>
                </a:lnTo>
                <a:close/>
              </a:path>
              <a:path w="11994515" h="233044">
                <a:moveTo>
                  <a:pt x="1833702" y="0"/>
                </a:moveTo>
                <a:lnTo>
                  <a:pt x="1734921" y="0"/>
                </a:lnTo>
                <a:lnTo>
                  <a:pt x="1693379" y="233045"/>
                </a:lnTo>
                <a:lnTo>
                  <a:pt x="1792160" y="233045"/>
                </a:lnTo>
                <a:lnTo>
                  <a:pt x="1833702" y="0"/>
                </a:lnTo>
                <a:close/>
              </a:path>
              <a:path w="11994515" h="233044">
                <a:moveTo>
                  <a:pt x="2003044" y="0"/>
                </a:moveTo>
                <a:lnTo>
                  <a:pt x="1904263" y="0"/>
                </a:lnTo>
                <a:lnTo>
                  <a:pt x="1862721" y="233045"/>
                </a:lnTo>
                <a:lnTo>
                  <a:pt x="1961502" y="233045"/>
                </a:lnTo>
                <a:lnTo>
                  <a:pt x="2003044" y="0"/>
                </a:lnTo>
                <a:close/>
              </a:path>
              <a:path w="11994515" h="233044">
                <a:moveTo>
                  <a:pt x="2172385" y="0"/>
                </a:moveTo>
                <a:lnTo>
                  <a:pt x="2073605" y="0"/>
                </a:lnTo>
                <a:lnTo>
                  <a:pt x="2032063" y="233045"/>
                </a:lnTo>
                <a:lnTo>
                  <a:pt x="2130844" y="233045"/>
                </a:lnTo>
                <a:lnTo>
                  <a:pt x="2172385" y="0"/>
                </a:lnTo>
                <a:close/>
              </a:path>
              <a:path w="11994515" h="233044">
                <a:moveTo>
                  <a:pt x="2341715" y="0"/>
                </a:moveTo>
                <a:lnTo>
                  <a:pt x="2242934" y="0"/>
                </a:lnTo>
                <a:lnTo>
                  <a:pt x="2201392" y="233045"/>
                </a:lnTo>
                <a:lnTo>
                  <a:pt x="2300173" y="233045"/>
                </a:lnTo>
                <a:lnTo>
                  <a:pt x="2341715" y="0"/>
                </a:lnTo>
                <a:close/>
              </a:path>
              <a:path w="11994515" h="233044">
                <a:moveTo>
                  <a:pt x="2511056" y="0"/>
                </a:moveTo>
                <a:lnTo>
                  <a:pt x="2412276" y="0"/>
                </a:lnTo>
                <a:lnTo>
                  <a:pt x="2370734" y="233045"/>
                </a:lnTo>
                <a:lnTo>
                  <a:pt x="2469515" y="233045"/>
                </a:lnTo>
                <a:lnTo>
                  <a:pt x="2511056" y="0"/>
                </a:lnTo>
                <a:close/>
              </a:path>
              <a:path w="11994515" h="233044">
                <a:moveTo>
                  <a:pt x="2680398" y="0"/>
                </a:moveTo>
                <a:lnTo>
                  <a:pt x="2581618" y="0"/>
                </a:lnTo>
                <a:lnTo>
                  <a:pt x="2540076" y="233045"/>
                </a:lnTo>
                <a:lnTo>
                  <a:pt x="2638856" y="233045"/>
                </a:lnTo>
                <a:lnTo>
                  <a:pt x="2680398" y="0"/>
                </a:lnTo>
                <a:close/>
              </a:path>
              <a:path w="11994515" h="233044">
                <a:moveTo>
                  <a:pt x="2849740" y="0"/>
                </a:moveTo>
                <a:lnTo>
                  <a:pt x="2750959" y="0"/>
                </a:lnTo>
                <a:lnTo>
                  <a:pt x="2709405" y="233045"/>
                </a:lnTo>
                <a:lnTo>
                  <a:pt x="2808186" y="233045"/>
                </a:lnTo>
                <a:lnTo>
                  <a:pt x="2849740" y="0"/>
                </a:lnTo>
                <a:close/>
              </a:path>
              <a:path w="11994515" h="233044">
                <a:moveTo>
                  <a:pt x="3019069" y="0"/>
                </a:moveTo>
                <a:lnTo>
                  <a:pt x="2920288" y="0"/>
                </a:lnTo>
                <a:lnTo>
                  <a:pt x="2878747" y="233045"/>
                </a:lnTo>
                <a:lnTo>
                  <a:pt x="2977527" y="233045"/>
                </a:lnTo>
                <a:lnTo>
                  <a:pt x="3019069" y="0"/>
                </a:lnTo>
                <a:close/>
              </a:path>
              <a:path w="11994515" h="233044">
                <a:moveTo>
                  <a:pt x="3188411" y="0"/>
                </a:moveTo>
                <a:lnTo>
                  <a:pt x="3089630" y="0"/>
                </a:lnTo>
                <a:lnTo>
                  <a:pt x="3048089" y="233045"/>
                </a:lnTo>
                <a:lnTo>
                  <a:pt x="3146869" y="233045"/>
                </a:lnTo>
                <a:lnTo>
                  <a:pt x="3188411" y="0"/>
                </a:lnTo>
                <a:close/>
              </a:path>
              <a:path w="11994515" h="233044">
                <a:moveTo>
                  <a:pt x="3357753" y="0"/>
                </a:moveTo>
                <a:lnTo>
                  <a:pt x="3258972" y="0"/>
                </a:lnTo>
                <a:lnTo>
                  <a:pt x="3217430" y="233045"/>
                </a:lnTo>
                <a:lnTo>
                  <a:pt x="3316211" y="233045"/>
                </a:lnTo>
                <a:lnTo>
                  <a:pt x="3357753" y="0"/>
                </a:lnTo>
                <a:close/>
              </a:path>
              <a:path w="11994515" h="233044">
                <a:moveTo>
                  <a:pt x="3527094" y="0"/>
                </a:moveTo>
                <a:lnTo>
                  <a:pt x="3428301" y="0"/>
                </a:lnTo>
                <a:lnTo>
                  <a:pt x="3386759" y="233045"/>
                </a:lnTo>
                <a:lnTo>
                  <a:pt x="3485540" y="233045"/>
                </a:lnTo>
                <a:lnTo>
                  <a:pt x="3527094" y="0"/>
                </a:lnTo>
                <a:close/>
              </a:path>
              <a:path w="11994515" h="233044">
                <a:moveTo>
                  <a:pt x="3696424" y="0"/>
                </a:moveTo>
                <a:lnTo>
                  <a:pt x="3597643" y="0"/>
                </a:lnTo>
                <a:lnTo>
                  <a:pt x="3556101" y="233045"/>
                </a:lnTo>
                <a:lnTo>
                  <a:pt x="3654882" y="233045"/>
                </a:lnTo>
                <a:lnTo>
                  <a:pt x="3696424" y="0"/>
                </a:lnTo>
                <a:close/>
              </a:path>
              <a:path w="11994515" h="233044">
                <a:moveTo>
                  <a:pt x="3865765" y="0"/>
                </a:moveTo>
                <a:lnTo>
                  <a:pt x="3766985" y="0"/>
                </a:lnTo>
                <a:lnTo>
                  <a:pt x="3725443" y="233045"/>
                </a:lnTo>
                <a:lnTo>
                  <a:pt x="3824224" y="233045"/>
                </a:lnTo>
                <a:lnTo>
                  <a:pt x="3865765" y="0"/>
                </a:lnTo>
                <a:close/>
              </a:path>
              <a:path w="11994515" h="233044">
                <a:moveTo>
                  <a:pt x="4035107" y="0"/>
                </a:moveTo>
                <a:lnTo>
                  <a:pt x="3936327" y="0"/>
                </a:lnTo>
                <a:lnTo>
                  <a:pt x="3894772" y="233045"/>
                </a:lnTo>
                <a:lnTo>
                  <a:pt x="3993553" y="233045"/>
                </a:lnTo>
                <a:lnTo>
                  <a:pt x="4035107" y="0"/>
                </a:lnTo>
                <a:close/>
              </a:path>
              <a:path w="11994515" h="233044">
                <a:moveTo>
                  <a:pt x="4204436" y="0"/>
                </a:moveTo>
                <a:lnTo>
                  <a:pt x="4105656" y="0"/>
                </a:lnTo>
                <a:lnTo>
                  <a:pt x="4064114" y="233045"/>
                </a:lnTo>
                <a:lnTo>
                  <a:pt x="4162895" y="233045"/>
                </a:lnTo>
                <a:lnTo>
                  <a:pt x="4204436" y="0"/>
                </a:lnTo>
                <a:close/>
              </a:path>
              <a:path w="11994515" h="233044">
                <a:moveTo>
                  <a:pt x="4373778" y="0"/>
                </a:moveTo>
                <a:lnTo>
                  <a:pt x="4274998" y="0"/>
                </a:lnTo>
                <a:lnTo>
                  <a:pt x="4233456" y="233045"/>
                </a:lnTo>
                <a:lnTo>
                  <a:pt x="4332236" y="233045"/>
                </a:lnTo>
                <a:lnTo>
                  <a:pt x="4373778" y="0"/>
                </a:lnTo>
                <a:close/>
              </a:path>
              <a:path w="11994515" h="233044">
                <a:moveTo>
                  <a:pt x="4543120" y="0"/>
                </a:moveTo>
                <a:lnTo>
                  <a:pt x="4444339" y="0"/>
                </a:lnTo>
                <a:lnTo>
                  <a:pt x="4402798" y="233045"/>
                </a:lnTo>
                <a:lnTo>
                  <a:pt x="4501578" y="233045"/>
                </a:lnTo>
                <a:lnTo>
                  <a:pt x="4543120" y="0"/>
                </a:lnTo>
                <a:close/>
              </a:path>
              <a:path w="11994515" h="233044">
                <a:moveTo>
                  <a:pt x="4712462" y="0"/>
                </a:moveTo>
                <a:lnTo>
                  <a:pt x="4613668" y="0"/>
                </a:lnTo>
                <a:lnTo>
                  <a:pt x="4572127" y="233045"/>
                </a:lnTo>
                <a:lnTo>
                  <a:pt x="4670907" y="233045"/>
                </a:lnTo>
                <a:lnTo>
                  <a:pt x="4712462" y="0"/>
                </a:lnTo>
                <a:close/>
              </a:path>
              <a:path w="11994515" h="233044">
                <a:moveTo>
                  <a:pt x="4881791" y="0"/>
                </a:moveTo>
                <a:lnTo>
                  <a:pt x="4783010" y="0"/>
                </a:lnTo>
                <a:lnTo>
                  <a:pt x="4741469" y="233045"/>
                </a:lnTo>
                <a:lnTo>
                  <a:pt x="4840249" y="233045"/>
                </a:lnTo>
                <a:lnTo>
                  <a:pt x="4881791" y="0"/>
                </a:lnTo>
                <a:close/>
              </a:path>
              <a:path w="11994515" h="233044">
                <a:moveTo>
                  <a:pt x="5051133" y="0"/>
                </a:moveTo>
                <a:lnTo>
                  <a:pt x="4952352" y="0"/>
                </a:lnTo>
                <a:lnTo>
                  <a:pt x="4910810" y="233045"/>
                </a:lnTo>
                <a:lnTo>
                  <a:pt x="5009591" y="233045"/>
                </a:lnTo>
                <a:lnTo>
                  <a:pt x="5051133" y="0"/>
                </a:lnTo>
                <a:close/>
              </a:path>
              <a:path w="11994515" h="233044">
                <a:moveTo>
                  <a:pt x="5220474" y="0"/>
                </a:moveTo>
                <a:lnTo>
                  <a:pt x="5121694" y="0"/>
                </a:lnTo>
                <a:lnTo>
                  <a:pt x="5080152" y="233045"/>
                </a:lnTo>
                <a:lnTo>
                  <a:pt x="5178933" y="233045"/>
                </a:lnTo>
                <a:lnTo>
                  <a:pt x="5220474" y="0"/>
                </a:lnTo>
                <a:close/>
              </a:path>
              <a:path w="11994515" h="233044">
                <a:moveTo>
                  <a:pt x="5389804" y="0"/>
                </a:moveTo>
                <a:lnTo>
                  <a:pt x="5291023" y="0"/>
                </a:lnTo>
                <a:lnTo>
                  <a:pt x="5249481" y="233045"/>
                </a:lnTo>
                <a:lnTo>
                  <a:pt x="5348262" y="233045"/>
                </a:lnTo>
                <a:lnTo>
                  <a:pt x="5389804" y="0"/>
                </a:lnTo>
                <a:close/>
              </a:path>
              <a:path w="11994515" h="233044">
                <a:moveTo>
                  <a:pt x="5559145" y="0"/>
                </a:moveTo>
                <a:lnTo>
                  <a:pt x="5460365" y="0"/>
                </a:lnTo>
                <a:lnTo>
                  <a:pt x="5418823" y="233045"/>
                </a:lnTo>
                <a:lnTo>
                  <a:pt x="5517604" y="233045"/>
                </a:lnTo>
                <a:lnTo>
                  <a:pt x="5559145" y="0"/>
                </a:lnTo>
                <a:close/>
              </a:path>
              <a:path w="11994515" h="233044">
                <a:moveTo>
                  <a:pt x="5728487" y="0"/>
                </a:moveTo>
                <a:lnTo>
                  <a:pt x="5629707" y="0"/>
                </a:lnTo>
                <a:lnTo>
                  <a:pt x="5588165" y="233045"/>
                </a:lnTo>
                <a:lnTo>
                  <a:pt x="5686945" y="233045"/>
                </a:lnTo>
                <a:lnTo>
                  <a:pt x="5728487" y="0"/>
                </a:lnTo>
                <a:close/>
              </a:path>
              <a:path w="11994515" h="233044">
                <a:moveTo>
                  <a:pt x="5897829" y="0"/>
                </a:moveTo>
                <a:lnTo>
                  <a:pt x="5799048" y="0"/>
                </a:lnTo>
                <a:lnTo>
                  <a:pt x="5757494" y="233045"/>
                </a:lnTo>
                <a:lnTo>
                  <a:pt x="5856275" y="233045"/>
                </a:lnTo>
                <a:lnTo>
                  <a:pt x="5897829" y="0"/>
                </a:lnTo>
                <a:close/>
              </a:path>
              <a:path w="11994515" h="233044">
                <a:moveTo>
                  <a:pt x="6067158" y="0"/>
                </a:moveTo>
                <a:lnTo>
                  <a:pt x="5968377" y="0"/>
                </a:lnTo>
                <a:lnTo>
                  <a:pt x="5926836" y="233045"/>
                </a:lnTo>
                <a:lnTo>
                  <a:pt x="6025616" y="233045"/>
                </a:lnTo>
                <a:lnTo>
                  <a:pt x="6067158" y="0"/>
                </a:lnTo>
                <a:close/>
              </a:path>
              <a:path w="11994515" h="233044">
                <a:moveTo>
                  <a:pt x="6236500" y="0"/>
                </a:moveTo>
                <a:lnTo>
                  <a:pt x="6137719" y="0"/>
                </a:lnTo>
                <a:lnTo>
                  <a:pt x="6096178" y="233045"/>
                </a:lnTo>
                <a:lnTo>
                  <a:pt x="6194958" y="233045"/>
                </a:lnTo>
                <a:lnTo>
                  <a:pt x="6236500" y="0"/>
                </a:lnTo>
                <a:close/>
              </a:path>
              <a:path w="11994515" h="233044">
                <a:moveTo>
                  <a:pt x="6405842" y="0"/>
                </a:moveTo>
                <a:lnTo>
                  <a:pt x="6307061" y="0"/>
                </a:lnTo>
                <a:lnTo>
                  <a:pt x="6265519" y="233045"/>
                </a:lnTo>
                <a:lnTo>
                  <a:pt x="6364300" y="233045"/>
                </a:lnTo>
                <a:lnTo>
                  <a:pt x="6405842" y="0"/>
                </a:lnTo>
                <a:close/>
              </a:path>
              <a:path w="11994515" h="233044">
                <a:moveTo>
                  <a:pt x="6575171" y="0"/>
                </a:moveTo>
                <a:lnTo>
                  <a:pt x="6476390" y="0"/>
                </a:lnTo>
                <a:lnTo>
                  <a:pt x="6434849" y="233045"/>
                </a:lnTo>
                <a:lnTo>
                  <a:pt x="6533629" y="233045"/>
                </a:lnTo>
                <a:lnTo>
                  <a:pt x="6575171" y="0"/>
                </a:lnTo>
                <a:close/>
              </a:path>
              <a:path w="11994515" h="233044">
                <a:moveTo>
                  <a:pt x="6744513" y="0"/>
                </a:moveTo>
                <a:lnTo>
                  <a:pt x="6645732" y="0"/>
                </a:lnTo>
                <a:lnTo>
                  <a:pt x="6604190" y="233045"/>
                </a:lnTo>
                <a:lnTo>
                  <a:pt x="6702971" y="233045"/>
                </a:lnTo>
                <a:lnTo>
                  <a:pt x="6744513" y="0"/>
                </a:lnTo>
                <a:close/>
              </a:path>
              <a:path w="11994515" h="233044">
                <a:moveTo>
                  <a:pt x="6913854" y="0"/>
                </a:moveTo>
                <a:lnTo>
                  <a:pt x="6815074" y="0"/>
                </a:lnTo>
                <a:lnTo>
                  <a:pt x="6773532" y="233045"/>
                </a:lnTo>
                <a:lnTo>
                  <a:pt x="6872313" y="233045"/>
                </a:lnTo>
                <a:lnTo>
                  <a:pt x="6913854" y="0"/>
                </a:lnTo>
                <a:close/>
              </a:path>
              <a:path w="11994515" h="233044">
                <a:moveTo>
                  <a:pt x="7083196" y="0"/>
                </a:moveTo>
                <a:lnTo>
                  <a:pt x="6984416" y="0"/>
                </a:lnTo>
                <a:lnTo>
                  <a:pt x="6942861" y="233045"/>
                </a:lnTo>
                <a:lnTo>
                  <a:pt x="7041642" y="233045"/>
                </a:lnTo>
                <a:lnTo>
                  <a:pt x="7083196" y="0"/>
                </a:lnTo>
                <a:close/>
              </a:path>
              <a:path w="11994515" h="233044">
                <a:moveTo>
                  <a:pt x="7252525" y="0"/>
                </a:moveTo>
                <a:lnTo>
                  <a:pt x="7153745" y="0"/>
                </a:lnTo>
                <a:lnTo>
                  <a:pt x="7112203" y="233045"/>
                </a:lnTo>
                <a:lnTo>
                  <a:pt x="7210984" y="233045"/>
                </a:lnTo>
                <a:lnTo>
                  <a:pt x="7252525" y="0"/>
                </a:lnTo>
                <a:close/>
              </a:path>
              <a:path w="11994515" h="233044">
                <a:moveTo>
                  <a:pt x="7421867" y="0"/>
                </a:moveTo>
                <a:lnTo>
                  <a:pt x="7323087" y="0"/>
                </a:lnTo>
                <a:lnTo>
                  <a:pt x="7281545" y="233045"/>
                </a:lnTo>
                <a:lnTo>
                  <a:pt x="7380325" y="233045"/>
                </a:lnTo>
                <a:lnTo>
                  <a:pt x="7421867" y="0"/>
                </a:lnTo>
                <a:close/>
              </a:path>
              <a:path w="11994515" h="233044">
                <a:moveTo>
                  <a:pt x="7591209" y="0"/>
                </a:moveTo>
                <a:lnTo>
                  <a:pt x="7492428" y="0"/>
                </a:lnTo>
                <a:lnTo>
                  <a:pt x="7450887" y="233045"/>
                </a:lnTo>
                <a:lnTo>
                  <a:pt x="7549667" y="233045"/>
                </a:lnTo>
                <a:lnTo>
                  <a:pt x="7591209" y="0"/>
                </a:lnTo>
                <a:close/>
              </a:path>
              <a:path w="11994515" h="233044">
                <a:moveTo>
                  <a:pt x="7760538" y="0"/>
                </a:moveTo>
                <a:lnTo>
                  <a:pt x="7661757" y="0"/>
                </a:lnTo>
                <a:lnTo>
                  <a:pt x="7620216" y="233045"/>
                </a:lnTo>
                <a:lnTo>
                  <a:pt x="7718996" y="233045"/>
                </a:lnTo>
                <a:lnTo>
                  <a:pt x="7760538" y="0"/>
                </a:lnTo>
                <a:close/>
              </a:path>
              <a:path w="11994515" h="233044">
                <a:moveTo>
                  <a:pt x="7929880" y="0"/>
                </a:moveTo>
                <a:lnTo>
                  <a:pt x="7831099" y="0"/>
                </a:lnTo>
                <a:lnTo>
                  <a:pt x="7789558" y="233045"/>
                </a:lnTo>
                <a:lnTo>
                  <a:pt x="7888338" y="233045"/>
                </a:lnTo>
                <a:lnTo>
                  <a:pt x="7929880" y="0"/>
                </a:lnTo>
                <a:close/>
              </a:path>
              <a:path w="11994515" h="233044">
                <a:moveTo>
                  <a:pt x="8099222" y="0"/>
                </a:moveTo>
                <a:lnTo>
                  <a:pt x="8000441" y="0"/>
                </a:lnTo>
                <a:lnTo>
                  <a:pt x="7958899" y="233045"/>
                </a:lnTo>
                <a:lnTo>
                  <a:pt x="8057680" y="233045"/>
                </a:lnTo>
                <a:lnTo>
                  <a:pt x="8099222" y="0"/>
                </a:lnTo>
                <a:close/>
              </a:path>
              <a:path w="11994515" h="233044">
                <a:moveTo>
                  <a:pt x="8268563" y="0"/>
                </a:moveTo>
                <a:lnTo>
                  <a:pt x="8169783" y="0"/>
                </a:lnTo>
                <a:lnTo>
                  <a:pt x="8128228" y="233045"/>
                </a:lnTo>
                <a:lnTo>
                  <a:pt x="8227009" y="233045"/>
                </a:lnTo>
                <a:lnTo>
                  <a:pt x="8268563" y="0"/>
                </a:lnTo>
                <a:close/>
              </a:path>
              <a:path w="11994515" h="233044">
                <a:moveTo>
                  <a:pt x="8437893" y="0"/>
                </a:moveTo>
                <a:lnTo>
                  <a:pt x="8339112" y="0"/>
                </a:lnTo>
                <a:lnTo>
                  <a:pt x="8297570" y="233045"/>
                </a:lnTo>
                <a:lnTo>
                  <a:pt x="8396351" y="233045"/>
                </a:lnTo>
                <a:lnTo>
                  <a:pt x="8437893" y="0"/>
                </a:lnTo>
                <a:close/>
              </a:path>
              <a:path w="11994515" h="233044">
                <a:moveTo>
                  <a:pt x="8607234" y="0"/>
                </a:moveTo>
                <a:lnTo>
                  <a:pt x="8508454" y="0"/>
                </a:lnTo>
                <a:lnTo>
                  <a:pt x="8466912" y="233045"/>
                </a:lnTo>
                <a:lnTo>
                  <a:pt x="8565693" y="233045"/>
                </a:lnTo>
                <a:lnTo>
                  <a:pt x="8607234" y="0"/>
                </a:lnTo>
                <a:close/>
              </a:path>
              <a:path w="11994515" h="233044">
                <a:moveTo>
                  <a:pt x="8776576" y="0"/>
                </a:moveTo>
                <a:lnTo>
                  <a:pt x="8677796" y="0"/>
                </a:lnTo>
                <a:lnTo>
                  <a:pt x="8636254" y="233045"/>
                </a:lnTo>
                <a:lnTo>
                  <a:pt x="8735035" y="233045"/>
                </a:lnTo>
                <a:lnTo>
                  <a:pt x="8776576" y="0"/>
                </a:lnTo>
                <a:close/>
              </a:path>
              <a:path w="11994515" h="233044">
                <a:moveTo>
                  <a:pt x="8945905" y="0"/>
                </a:moveTo>
                <a:lnTo>
                  <a:pt x="8847137" y="0"/>
                </a:lnTo>
                <a:lnTo>
                  <a:pt x="8805583" y="233045"/>
                </a:lnTo>
                <a:lnTo>
                  <a:pt x="8904364" y="233045"/>
                </a:lnTo>
                <a:lnTo>
                  <a:pt x="8945905" y="0"/>
                </a:lnTo>
                <a:close/>
              </a:path>
              <a:path w="11994515" h="233044">
                <a:moveTo>
                  <a:pt x="9115247" y="0"/>
                </a:moveTo>
                <a:lnTo>
                  <a:pt x="9016467" y="0"/>
                </a:lnTo>
                <a:lnTo>
                  <a:pt x="8974925" y="233045"/>
                </a:lnTo>
                <a:lnTo>
                  <a:pt x="9073705" y="233045"/>
                </a:lnTo>
                <a:lnTo>
                  <a:pt x="9115247" y="0"/>
                </a:lnTo>
                <a:close/>
              </a:path>
              <a:path w="11994515" h="233044">
                <a:moveTo>
                  <a:pt x="9284589" y="0"/>
                </a:moveTo>
                <a:lnTo>
                  <a:pt x="9185808" y="0"/>
                </a:lnTo>
                <a:lnTo>
                  <a:pt x="9144267" y="233045"/>
                </a:lnTo>
                <a:lnTo>
                  <a:pt x="9243047" y="233045"/>
                </a:lnTo>
                <a:lnTo>
                  <a:pt x="9284589" y="0"/>
                </a:lnTo>
                <a:close/>
              </a:path>
              <a:path w="11994515" h="233044">
                <a:moveTo>
                  <a:pt x="9453931" y="0"/>
                </a:moveTo>
                <a:lnTo>
                  <a:pt x="9355150" y="0"/>
                </a:lnTo>
                <a:lnTo>
                  <a:pt x="9313608" y="233045"/>
                </a:lnTo>
                <a:lnTo>
                  <a:pt x="9412389" y="233045"/>
                </a:lnTo>
                <a:lnTo>
                  <a:pt x="9453931" y="0"/>
                </a:lnTo>
                <a:close/>
              </a:path>
              <a:path w="11994515" h="233044">
                <a:moveTo>
                  <a:pt x="9623260" y="0"/>
                </a:moveTo>
                <a:lnTo>
                  <a:pt x="9524467" y="0"/>
                </a:lnTo>
                <a:lnTo>
                  <a:pt x="9482938" y="233045"/>
                </a:lnTo>
                <a:lnTo>
                  <a:pt x="9581718" y="233045"/>
                </a:lnTo>
                <a:lnTo>
                  <a:pt x="9623260" y="0"/>
                </a:lnTo>
                <a:close/>
              </a:path>
              <a:path w="11994515" h="233044">
                <a:moveTo>
                  <a:pt x="9792602" y="0"/>
                </a:moveTo>
                <a:lnTo>
                  <a:pt x="9693821" y="0"/>
                </a:lnTo>
                <a:lnTo>
                  <a:pt x="9652279" y="233045"/>
                </a:lnTo>
                <a:lnTo>
                  <a:pt x="9751060" y="233045"/>
                </a:lnTo>
                <a:lnTo>
                  <a:pt x="9792602" y="0"/>
                </a:lnTo>
                <a:close/>
              </a:path>
              <a:path w="11994515" h="233044">
                <a:moveTo>
                  <a:pt x="9961943" y="0"/>
                </a:moveTo>
                <a:lnTo>
                  <a:pt x="9863163" y="0"/>
                </a:lnTo>
                <a:lnTo>
                  <a:pt x="9821621" y="233045"/>
                </a:lnTo>
                <a:lnTo>
                  <a:pt x="9920402" y="233045"/>
                </a:lnTo>
                <a:lnTo>
                  <a:pt x="9961943" y="0"/>
                </a:lnTo>
                <a:close/>
              </a:path>
              <a:path w="11994515" h="233044">
                <a:moveTo>
                  <a:pt x="10131273" y="0"/>
                </a:moveTo>
                <a:lnTo>
                  <a:pt x="10032505" y="0"/>
                </a:lnTo>
                <a:lnTo>
                  <a:pt x="9990950" y="233045"/>
                </a:lnTo>
                <a:lnTo>
                  <a:pt x="10089731" y="233045"/>
                </a:lnTo>
                <a:lnTo>
                  <a:pt x="10131273" y="0"/>
                </a:lnTo>
                <a:close/>
              </a:path>
              <a:path w="11994515" h="233044">
                <a:moveTo>
                  <a:pt x="10300614" y="0"/>
                </a:moveTo>
                <a:lnTo>
                  <a:pt x="10201834" y="0"/>
                </a:lnTo>
                <a:lnTo>
                  <a:pt x="10160292" y="233045"/>
                </a:lnTo>
                <a:lnTo>
                  <a:pt x="10259073" y="233045"/>
                </a:lnTo>
                <a:lnTo>
                  <a:pt x="10300614" y="0"/>
                </a:lnTo>
                <a:close/>
              </a:path>
              <a:path w="11994515" h="233044">
                <a:moveTo>
                  <a:pt x="10469956" y="0"/>
                </a:moveTo>
                <a:lnTo>
                  <a:pt x="10371176" y="0"/>
                </a:lnTo>
                <a:lnTo>
                  <a:pt x="10329634" y="233045"/>
                </a:lnTo>
                <a:lnTo>
                  <a:pt x="10428414" y="233045"/>
                </a:lnTo>
                <a:lnTo>
                  <a:pt x="10469956" y="0"/>
                </a:lnTo>
                <a:close/>
              </a:path>
              <a:path w="11994515" h="233044">
                <a:moveTo>
                  <a:pt x="10639298" y="0"/>
                </a:moveTo>
                <a:lnTo>
                  <a:pt x="10540517" y="0"/>
                </a:lnTo>
                <a:lnTo>
                  <a:pt x="10498963" y="233045"/>
                </a:lnTo>
                <a:lnTo>
                  <a:pt x="10597756" y="233045"/>
                </a:lnTo>
                <a:lnTo>
                  <a:pt x="10639298" y="0"/>
                </a:lnTo>
                <a:close/>
              </a:path>
              <a:path w="11994515" h="233044">
                <a:moveTo>
                  <a:pt x="10808627" y="0"/>
                </a:moveTo>
                <a:lnTo>
                  <a:pt x="10709847" y="0"/>
                </a:lnTo>
                <a:lnTo>
                  <a:pt x="10668305" y="233045"/>
                </a:lnTo>
                <a:lnTo>
                  <a:pt x="10767085" y="233045"/>
                </a:lnTo>
                <a:lnTo>
                  <a:pt x="10808627" y="0"/>
                </a:lnTo>
                <a:close/>
              </a:path>
              <a:path w="11994515" h="233044">
                <a:moveTo>
                  <a:pt x="10977969" y="0"/>
                </a:moveTo>
                <a:lnTo>
                  <a:pt x="10879188" y="0"/>
                </a:lnTo>
                <a:lnTo>
                  <a:pt x="10837647" y="233045"/>
                </a:lnTo>
                <a:lnTo>
                  <a:pt x="10936427" y="233045"/>
                </a:lnTo>
                <a:lnTo>
                  <a:pt x="10977969" y="0"/>
                </a:lnTo>
                <a:close/>
              </a:path>
              <a:path w="11994515" h="233044">
                <a:moveTo>
                  <a:pt x="11147311" y="0"/>
                </a:moveTo>
                <a:lnTo>
                  <a:pt x="11048530" y="0"/>
                </a:lnTo>
                <a:lnTo>
                  <a:pt x="11006988" y="233045"/>
                </a:lnTo>
                <a:lnTo>
                  <a:pt x="11105769" y="233045"/>
                </a:lnTo>
                <a:lnTo>
                  <a:pt x="11147311" y="0"/>
                </a:lnTo>
                <a:close/>
              </a:path>
              <a:path w="11994515" h="233044">
                <a:moveTo>
                  <a:pt x="11316653" y="0"/>
                </a:moveTo>
                <a:lnTo>
                  <a:pt x="11217872" y="0"/>
                </a:lnTo>
                <a:lnTo>
                  <a:pt x="11176318" y="233045"/>
                </a:lnTo>
                <a:lnTo>
                  <a:pt x="11275098" y="233045"/>
                </a:lnTo>
                <a:lnTo>
                  <a:pt x="11316653" y="0"/>
                </a:lnTo>
                <a:close/>
              </a:path>
              <a:path w="11994515" h="233044">
                <a:moveTo>
                  <a:pt x="11485982" y="0"/>
                </a:moveTo>
                <a:lnTo>
                  <a:pt x="11387201" y="0"/>
                </a:lnTo>
                <a:lnTo>
                  <a:pt x="11345659" y="233045"/>
                </a:lnTo>
                <a:lnTo>
                  <a:pt x="11444440" y="233045"/>
                </a:lnTo>
                <a:lnTo>
                  <a:pt x="11485982" y="0"/>
                </a:lnTo>
                <a:close/>
              </a:path>
              <a:path w="11994515" h="233044">
                <a:moveTo>
                  <a:pt x="11655323" y="0"/>
                </a:moveTo>
                <a:lnTo>
                  <a:pt x="11556543" y="0"/>
                </a:lnTo>
                <a:lnTo>
                  <a:pt x="11515001" y="233045"/>
                </a:lnTo>
                <a:lnTo>
                  <a:pt x="11613782" y="233045"/>
                </a:lnTo>
                <a:lnTo>
                  <a:pt x="11655323" y="0"/>
                </a:lnTo>
                <a:close/>
              </a:path>
              <a:path w="11994515" h="233044">
                <a:moveTo>
                  <a:pt x="11824665" y="0"/>
                </a:moveTo>
                <a:lnTo>
                  <a:pt x="11725885" y="0"/>
                </a:lnTo>
                <a:lnTo>
                  <a:pt x="11684343" y="233045"/>
                </a:lnTo>
                <a:lnTo>
                  <a:pt x="11783124" y="233045"/>
                </a:lnTo>
                <a:lnTo>
                  <a:pt x="11824665" y="0"/>
                </a:lnTo>
                <a:close/>
              </a:path>
              <a:path w="11994515" h="233044">
                <a:moveTo>
                  <a:pt x="11993994" y="0"/>
                </a:moveTo>
                <a:lnTo>
                  <a:pt x="11895214" y="0"/>
                </a:lnTo>
                <a:lnTo>
                  <a:pt x="11853672" y="233045"/>
                </a:lnTo>
                <a:lnTo>
                  <a:pt x="11952453" y="233045"/>
                </a:lnTo>
                <a:lnTo>
                  <a:pt x="11993994" y="0"/>
                </a:lnTo>
                <a:close/>
              </a:path>
            </a:pathLst>
          </a:custGeom>
          <a:solidFill>
            <a:srgbClr val="606E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731733" y="964564"/>
            <a:ext cx="2172970" cy="233045"/>
          </a:xfrm>
          <a:custGeom>
            <a:avLst/>
            <a:gdLst/>
            <a:ahLst/>
            <a:cxnLst/>
            <a:rect l="l" t="t" r="r" b="b"/>
            <a:pathLst>
              <a:path w="2172970" h="233044">
                <a:moveTo>
                  <a:pt x="140322" y="0"/>
                </a:moveTo>
                <a:lnTo>
                  <a:pt x="41541" y="0"/>
                </a:lnTo>
                <a:lnTo>
                  <a:pt x="0" y="233045"/>
                </a:lnTo>
                <a:lnTo>
                  <a:pt x="98780" y="233045"/>
                </a:lnTo>
                <a:lnTo>
                  <a:pt x="140322" y="0"/>
                </a:lnTo>
                <a:close/>
              </a:path>
              <a:path w="2172970" h="233044">
                <a:moveTo>
                  <a:pt x="309664" y="0"/>
                </a:moveTo>
                <a:lnTo>
                  <a:pt x="210883" y="0"/>
                </a:lnTo>
                <a:lnTo>
                  <a:pt x="169341" y="233045"/>
                </a:lnTo>
                <a:lnTo>
                  <a:pt x="268122" y="233045"/>
                </a:lnTo>
                <a:lnTo>
                  <a:pt x="309664" y="0"/>
                </a:lnTo>
                <a:close/>
              </a:path>
              <a:path w="2172970" h="233044">
                <a:moveTo>
                  <a:pt x="479005" y="0"/>
                </a:moveTo>
                <a:lnTo>
                  <a:pt x="380225" y="0"/>
                </a:lnTo>
                <a:lnTo>
                  <a:pt x="338683" y="233045"/>
                </a:lnTo>
                <a:lnTo>
                  <a:pt x="437464" y="233045"/>
                </a:lnTo>
                <a:lnTo>
                  <a:pt x="479005" y="0"/>
                </a:lnTo>
                <a:close/>
              </a:path>
              <a:path w="2172970" h="233044">
                <a:moveTo>
                  <a:pt x="648347" y="0"/>
                </a:moveTo>
                <a:lnTo>
                  <a:pt x="549567" y="0"/>
                </a:lnTo>
                <a:lnTo>
                  <a:pt x="508025" y="233045"/>
                </a:lnTo>
                <a:lnTo>
                  <a:pt x="606806" y="233045"/>
                </a:lnTo>
                <a:lnTo>
                  <a:pt x="648347" y="0"/>
                </a:lnTo>
                <a:close/>
              </a:path>
              <a:path w="2172970" h="233044">
                <a:moveTo>
                  <a:pt x="817676" y="0"/>
                </a:moveTo>
                <a:lnTo>
                  <a:pt x="718896" y="0"/>
                </a:lnTo>
                <a:lnTo>
                  <a:pt x="677354" y="233045"/>
                </a:lnTo>
                <a:lnTo>
                  <a:pt x="776135" y="233045"/>
                </a:lnTo>
                <a:lnTo>
                  <a:pt x="817676" y="0"/>
                </a:lnTo>
                <a:close/>
              </a:path>
              <a:path w="2172970" h="233044">
                <a:moveTo>
                  <a:pt x="987018" y="0"/>
                </a:moveTo>
                <a:lnTo>
                  <a:pt x="888238" y="0"/>
                </a:lnTo>
                <a:lnTo>
                  <a:pt x="846696" y="233045"/>
                </a:lnTo>
                <a:lnTo>
                  <a:pt x="945476" y="233045"/>
                </a:lnTo>
                <a:lnTo>
                  <a:pt x="987018" y="0"/>
                </a:lnTo>
                <a:close/>
              </a:path>
              <a:path w="2172970" h="233044">
                <a:moveTo>
                  <a:pt x="1156360" y="0"/>
                </a:moveTo>
                <a:lnTo>
                  <a:pt x="1057579" y="0"/>
                </a:lnTo>
                <a:lnTo>
                  <a:pt x="1016038" y="233045"/>
                </a:lnTo>
                <a:lnTo>
                  <a:pt x="1114818" y="233045"/>
                </a:lnTo>
                <a:lnTo>
                  <a:pt x="1156360" y="0"/>
                </a:lnTo>
                <a:close/>
              </a:path>
              <a:path w="2172970" h="233044">
                <a:moveTo>
                  <a:pt x="1325689" y="0"/>
                </a:moveTo>
                <a:lnTo>
                  <a:pt x="1226921" y="0"/>
                </a:lnTo>
                <a:lnTo>
                  <a:pt x="1185367" y="233045"/>
                </a:lnTo>
                <a:lnTo>
                  <a:pt x="1284147" y="233045"/>
                </a:lnTo>
                <a:lnTo>
                  <a:pt x="1325689" y="0"/>
                </a:lnTo>
                <a:close/>
              </a:path>
              <a:path w="2172970" h="233044">
                <a:moveTo>
                  <a:pt x="1495031" y="0"/>
                </a:moveTo>
                <a:lnTo>
                  <a:pt x="1396250" y="0"/>
                </a:lnTo>
                <a:lnTo>
                  <a:pt x="1354709" y="233045"/>
                </a:lnTo>
                <a:lnTo>
                  <a:pt x="1453489" y="233045"/>
                </a:lnTo>
                <a:lnTo>
                  <a:pt x="1495031" y="0"/>
                </a:lnTo>
                <a:close/>
              </a:path>
              <a:path w="2172970" h="233044">
                <a:moveTo>
                  <a:pt x="1664373" y="0"/>
                </a:moveTo>
                <a:lnTo>
                  <a:pt x="1565592" y="0"/>
                </a:lnTo>
                <a:lnTo>
                  <a:pt x="1524050" y="233045"/>
                </a:lnTo>
                <a:lnTo>
                  <a:pt x="1622831" y="233045"/>
                </a:lnTo>
                <a:lnTo>
                  <a:pt x="1664373" y="0"/>
                </a:lnTo>
                <a:close/>
              </a:path>
              <a:path w="2172970" h="233044">
                <a:moveTo>
                  <a:pt x="1833714" y="0"/>
                </a:moveTo>
                <a:lnTo>
                  <a:pt x="1734934" y="0"/>
                </a:lnTo>
                <a:lnTo>
                  <a:pt x="1693392" y="233045"/>
                </a:lnTo>
                <a:lnTo>
                  <a:pt x="1792173" y="233045"/>
                </a:lnTo>
                <a:lnTo>
                  <a:pt x="1833714" y="0"/>
                </a:lnTo>
                <a:close/>
              </a:path>
              <a:path w="2172970" h="233044">
                <a:moveTo>
                  <a:pt x="2003044" y="0"/>
                </a:moveTo>
                <a:lnTo>
                  <a:pt x="1904263" y="0"/>
                </a:lnTo>
                <a:lnTo>
                  <a:pt x="1862721" y="233045"/>
                </a:lnTo>
                <a:lnTo>
                  <a:pt x="1961502" y="233045"/>
                </a:lnTo>
                <a:lnTo>
                  <a:pt x="2003044" y="0"/>
                </a:lnTo>
                <a:close/>
              </a:path>
              <a:path w="2172970" h="233044">
                <a:moveTo>
                  <a:pt x="2172385" y="0"/>
                </a:moveTo>
                <a:lnTo>
                  <a:pt x="2073605" y="0"/>
                </a:lnTo>
                <a:lnTo>
                  <a:pt x="2032063" y="233045"/>
                </a:lnTo>
                <a:lnTo>
                  <a:pt x="2130844" y="233045"/>
                </a:lnTo>
                <a:lnTo>
                  <a:pt x="2172385" y="0"/>
                </a:lnTo>
                <a:close/>
              </a:path>
            </a:pathLst>
          </a:custGeom>
          <a:solidFill>
            <a:srgbClr val="606E9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5035" y="123608"/>
            <a:ext cx="913792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21900" y="1828800"/>
            <a:ext cx="7675244" cy="5253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1563" y="6408420"/>
            <a:ext cx="2852928" cy="28361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73885" y="1574800"/>
            <a:ext cx="15006319" cy="85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50" spc="-480" dirty="0">
                <a:latin typeface="Times New Roman" panose="02020603050405020304"/>
                <a:cs typeface="Times New Roman" panose="02020603050405020304"/>
              </a:rPr>
              <a:t>MU</a:t>
            </a:r>
            <a:r>
              <a:rPr sz="5450" spc="-97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5450" spc="-47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5450" spc="-2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5450" spc="-89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450" spc="-98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5450" spc="-109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5450" spc="-47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5450" spc="-2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54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450" spc="-295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54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450" spc="-415" dirty="0">
                <a:latin typeface="Times New Roman" panose="02020603050405020304"/>
                <a:cs typeface="Times New Roman" panose="02020603050405020304"/>
              </a:rPr>
              <a:t>BALANCING</a:t>
            </a:r>
            <a:r>
              <a:rPr sz="545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450" spc="-18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5450" spc="-84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450" spc="-210" dirty="0">
                <a:latin typeface="Times New Roman" panose="02020603050405020304"/>
                <a:cs typeface="Times New Roman" panose="02020603050405020304"/>
              </a:rPr>
              <a:t>SDN</a:t>
            </a:r>
            <a:r>
              <a:rPr sz="54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450" spc="-61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5450" spc="-600" dirty="0">
                <a:latin typeface="Times New Roman" panose="02020603050405020304"/>
                <a:cs typeface="Times New Roman" panose="02020603050405020304"/>
              </a:rPr>
              <a:t>ET</a:t>
            </a:r>
            <a:r>
              <a:rPr sz="5450" spc="-61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5450" spc="-615" dirty="0">
                <a:latin typeface="Times New Roman" panose="02020603050405020304"/>
                <a:cs typeface="Times New Roman" panose="02020603050405020304"/>
              </a:rPr>
              <a:t>ORK</a:t>
            </a:r>
            <a:r>
              <a:rPr sz="5450" spc="-30" dirty="0">
                <a:latin typeface="Times New Roman" panose="02020603050405020304"/>
                <a:cs typeface="Times New Roman" panose="02020603050405020304"/>
              </a:rPr>
              <a:t>S</a:t>
            </a:r>
            <a:endParaRPr sz="5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01035" y="202933"/>
            <a:ext cx="2921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4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0986" y="5402910"/>
            <a:ext cx="4114800" cy="233680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3200" dirty="0">
                <a:latin typeface="Trebuchet MS" panose="020B0603020202020204"/>
                <a:cs typeface="Trebuchet MS" panose="020B0603020202020204"/>
              </a:rPr>
              <a:t>Diya</a:t>
            </a:r>
            <a:r>
              <a:rPr sz="3200" spc="-3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20" dirty="0">
                <a:latin typeface="Trebuchet MS" panose="020B0603020202020204"/>
                <a:cs typeface="Trebuchet MS" panose="020B0603020202020204"/>
              </a:rPr>
              <a:t>Nair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 marR="5080">
              <a:lnSpc>
                <a:spcPct val="119000"/>
              </a:lnSpc>
            </a:pPr>
            <a:r>
              <a:rPr sz="3200" dirty="0">
                <a:latin typeface="Trebuchet MS" panose="020B0603020202020204"/>
                <a:cs typeface="Trebuchet MS" panose="020B0603020202020204"/>
              </a:rPr>
              <a:t>Gawtham</a:t>
            </a:r>
            <a:r>
              <a:rPr sz="3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10" dirty="0">
                <a:latin typeface="Trebuchet MS" panose="020B0603020202020204"/>
                <a:cs typeface="Trebuchet MS" panose="020B0603020202020204"/>
              </a:rPr>
              <a:t>Choodan</a:t>
            </a:r>
            <a:r>
              <a:rPr sz="3200" spc="-2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A</a:t>
            </a:r>
            <a:r>
              <a:rPr sz="3200" spc="-22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0" dirty="0">
                <a:latin typeface="Trebuchet MS" panose="020B0603020202020204"/>
                <a:cs typeface="Trebuchet MS" panose="020B0603020202020204"/>
              </a:rPr>
              <a:t>V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Nikhitha</a:t>
            </a:r>
            <a:r>
              <a:rPr sz="3200" spc="-6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50" dirty="0">
                <a:latin typeface="Trebuchet MS" panose="020B0603020202020204"/>
                <a:cs typeface="Trebuchet MS" panose="020B0603020202020204"/>
              </a:rPr>
              <a:t>G</a:t>
            </a:r>
            <a:endParaRPr sz="32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dirty="0">
                <a:latin typeface="Trebuchet MS" panose="020B0603020202020204"/>
                <a:cs typeface="Trebuchet MS" panose="020B0603020202020204"/>
              </a:rPr>
              <a:t>Nissi</a:t>
            </a:r>
            <a:r>
              <a:rPr sz="3200" spc="-60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Mary</a:t>
            </a:r>
            <a:r>
              <a:rPr sz="3200" spc="-5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10" dirty="0">
                <a:latin typeface="Trebuchet MS" panose="020B0603020202020204"/>
                <a:cs typeface="Trebuchet MS" panose="020B0603020202020204"/>
              </a:rPr>
              <a:t>Joseph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60423" y="5402910"/>
            <a:ext cx="2228850" cy="2336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9000"/>
              </a:lnSpc>
              <a:spcBef>
                <a:spcPts val="95"/>
              </a:spcBef>
            </a:pPr>
            <a:r>
              <a:rPr sz="3200" spc="-10" dirty="0">
                <a:latin typeface="Trebuchet MS" panose="020B0603020202020204"/>
                <a:cs typeface="Trebuchet MS" panose="020B0603020202020204"/>
              </a:rPr>
              <a:t>SCT22EC056 SCT22EC062 SCT22EC094 SCT22EC097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98840" y="4575238"/>
            <a:ext cx="25304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Trebuchet MS" panose="020B0603020202020204"/>
                <a:cs typeface="Trebuchet MS" panose="020B0603020202020204"/>
              </a:rPr>
              <a:t>Presented</a:t>
            </a:r>
            <a:r>
              <a:rPr sz="3200" spc="-229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25" dirty="0">
                <a:latin typeface="Trebuchet MS" panose="020B0603020202020204"/>
                <a:cs typeface="Trebuchet MS" panose="020B0603020202020204"/>
              </a:rPr>
              <a:t>by: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8657" y="4705591"/>
            <a:ext cx="20135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rebuchet MS" panose="020B0603020202020204"/>
                <a:cs typeface="Trebuchet MS" panose="020B0603020202020204"/>
              </a:rPr>
              <a:t>Guided</a:t>
            </a:r>
            <a:r>
              <a:rPr sz="3200" spc="-7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25" dirty="0">
                <a:latin typeface="Trebuchet MS" panose="020B0603020202020204"/>
                <a:cs typeface="Trebuchet MS" panose="020B0603020202020204"/>
              </a:rPr>
              <a:t>by: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9097" y="5680951"/>
            <a:ext cx="276034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rebuchet MS" panose="020B0603020202020204"/>
                <a:cs typeface="Trebuchet MS" panose="020B0603020202020204"/>
              </a:rPr>
              <a:t>Prof.</a:t>
            </a:r>
            <a:r>
              <a:rPr sz="3200" spc="-21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-10" dirty="0">
                <a:latin typeface="Trebuchet MS" panose="020B0603020202020204"/>
                <a:cs typeface="Trebuchet MS" panose="020B0603020202020204"/>
              </a:rPr>
              <a:t>Soumya </a:t>
            </a:r>
            <a:r>
              <a:rPr sz="3200" dirty="0">
                <a:latin typeface="Trebuchet MS" panose="020B0603020202020204"/>
                <a:cs typeface="Trebuchet MS" panose="020B0603020202020204"/>
              </a:rPr>
              <a:t>CS</a:t>
            </a:r>
            <a:r>
              <a:rPr sz="3200" spc="-10" dirty="0">
                <a:latin typeface="Trebuchet MS" panose="020B0603020202020204"/>
                <a:cs typeface="Trebuchet MS" panose="020B0603020202020204"/>
              </a:rPr>
              <a:t> Department SCTCE</a:t>
            </a:r>
            <a:endParaRPr sz="32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6498" y="234315"/>
            <a:ext cx="3378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CONTENTS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272398" y="234315"/>
            <a:ext cx="33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4671" y="1148066"/>
            <a:ext cx="5367655" cy="78740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551815" indent="-539115">
              <a:lnSpc>
                <a:spcPct val="100000"/>
              </a:lnSpc>
              <a:spcBef>
                <a:spcPts val="11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26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Objectives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26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Solution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26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Review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Comparison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spc="-20" dirty="0">
                <a:latin typeface="Times New Roman" panose="02020603050405020304"/>
                <a:cs typeface="Times New Roman" panose="02020603050405020304"/>
              </a:rPr>
              <a:t>Sdn</a:t>
            </a:r>
            <a:r>
              <a:rPr sz="26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2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Overview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Methodology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815" indent="-539115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815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26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Design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180" indent="-538480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180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2600" b="1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Architecture</a:t>
            </a:r>
            <a:r>
              <a:rPr sz="26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6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Topology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180" indent="-538480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180" algn="l"/>
              </a:tabLst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Simulation</a:t>
            </a:r>
            <a:r>
              <a:rPr sz="26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Environment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180" indent="-538480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180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Result</a:t>
            </a:r>
            <a:r>
              <a:rPr sz="2600"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Analysis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180" indent="-538480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180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Advantages</a:t>
            </a:r>
            <a:r>
              <a:rPr sz="26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6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Applications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180" indent="-538480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180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Conclusion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551180" indent="-538480">
              <a:lnSpc>
                <a:spcPct val="100000"/>
              </a:lnSpc>
              <a:spcBef>
                <a:spcPts val="1000"/>
              </a:spcBef>
              <a:buClr>
                <a:srgbClr val="415487"/>
              </a:buClr>
              <a:buAutoNum type="arabicPeriod"/>
              <a:tabLst>
                <a:tab pos="551180" algn="l"/>
              </a:tabLst>
            </a:pPr>
            <a:r>
              <a:rPr sz="2600" b="1" spc="-10" dirty="0">
                <a:latin typeface="Times New Roman" panose="02020603050405020304"/>
                <a:cs typeface="Times New Roman" panose="02020603050405020304"/>
              </a:rPr>
              <a:t>References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6003" y="2058225"/>
            <a:ext cx="5301615" cy="5534025"/>
            <a:chOff x="1556003" y="2058225"/>
            <a:chExt cx="5301615" cy="5534025"/>
          </a:xfrm>
        </p:grpSpPr>
        <p:sp>
          <p:nvSpPr>
            <p:cNvPr id="3" name="object 3"/>
            <p:cNvSpPr/>
            <p:nvPr/>
          </p:nvSpPr>
          <p:spPr>
            <a:xfrm>
              <a:off x="1556651" y="2058225"/>
              <a:ext cx="5300980" cy="5534025"/>
            </a:xfrm>
            <a:custGeom>
              <a:avLst/>
              <a:gdLst/>
              <a:ahLst/>
              <a:cxnLst/>
              <a:rect l="l" t="t" r="r" b="b"/>
              <a:pathLst>
                <a:path w="5300980" h="5534025">
                  <a:moveTo>
                    <a:pt x="5300954" y="5533466"/>
                  </a:moveTo>
                  <a:lnTo>
                    <a:pt x="0" y="5533466"/>
                  </a:lnTo>
                  <a:lnTo>
                    <a:pt x="0" y="0"/>
                  </a:lnTo>
                  <a:lnTo>
                    <a:pt x="5300954" y="0"/>
                  </a:lnTo>
                  <a:lnTo>
                    <a:pt x="5300954" y="5533466"/>
                  </a:lnTo>
                  <a:close/>
                </a:path>
              </a:pathLst>
            </a:custGeom>
            <a:solidFill>
              <a:srgbClr val="CAB89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608319" y="5519928"/>
              <a:ext cx="635508" cy="6339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6003" y="2058924"/>
              <a:ext cx="5300472" cy="551383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38570" y="163283"/>
            <a:ext cx="4644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70" dirty="0"/>
              <a:t>INTRODUCTION</a:t>
            </a:r>
            <a:endParaRPr sz="4800"/>
          </a:p>
        </p:txBody>
      </p:sp>
      <p:sp>
        <p:nvSpPr>
          <p:cNvPr id="7" name="object 7"/>
          <p:cNvSpPr txBox="1"/>
          <p:nvPr/>
        </p:nvSpPr>
        <p:spPr>
          <a:xfrm>
            <a:off x="15762935" y="197853"/>
            <a:ext cx="33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Times New Roman" panose="02020603050405020304"/>
                <a:cs typeface="Times New Roman" panose="02020603050405020304"/>
              </a:rPr>
              <a:t>3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4540" y="1920239"/>
            <a:ext cx="85344" cy="853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4540" y="3006851"/>
            <a:ext cx="85344" cy="853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4540" y="5721096"/>
            <a:ext cx="85344" cy="8534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848422" y="1485951"/>
            <a:ext cx="9567545" cy="7341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7180" marR="172720" indent="-28448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8450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Routing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finds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send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network.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97180" marR="747395" indent="-28448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helps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distribute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paths,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which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load-balancing.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makes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more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reliable.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97180" marR="5080" indent="-28448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Software-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Networking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(SDN)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protocol,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routing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easier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flexible.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97180" marR="808355" indent="-284480" algn="just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Since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version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1.1,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Group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Tables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allows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applying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actions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one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data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flow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—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enabling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routing.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203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PROBLEM</a:t>
            </a:r>
            <a:r>
              <a:rPr sz="4800" spc="-100" dirty="0"/>
              <a:t> </a:t>
            </a:r>
            <a:r>
              <a:rPr sz="4800" spc="-70" dirty="0"/>
              <a:t>STATEMENT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112314" y="158115"/>
            <a:ext cx="33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Times New Roman" panose="02020603050405020304"/>
                <a:cs typeface="Times New Roman" panose="02020603050405020304"/>
              </a:rPr>
              <a:t>4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4151" y="2838577"/>
            <a:ext cx="15292705" cy="35026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algn="just">
              <a:lnSpc>
                <a:spcPct val="119000"/>
              </a:lnSpc>
              <a:spcBef>
                <a:spcPts val="5"/>
              </a:spcBef>
            </a:pPr>
            <a:r>
              <a:rPr sz="3200" i="1" dirty="0">
                <a:latin typeface="Verdana" panose="020B0604030504040204"/>
                <a:cs typeface="Verdana" panose="020B0604030504040204"/>
              </a:rPr>
              <a:t>"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modern</a:t>
            </a:r>
            <a:r>
              <a:rPr sz="32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networks,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single-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32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routing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often</a:t>
            </a:r>
            <a:r>
              <a:rPr sz="32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75" dirty="0">
                <a:latin typeface="Times New Roman" panose="02020603050405020304"/>
                <a:cs typeface="Times New Roman" panose="02020603050405020304"/>
              </a:rPr>
              <a:t>leads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congestion,</a:t>
            </a:r>
            <a:r>
              <a:rPr sz="3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underutilization</a:t>
            </a:r>
            <a:r>
              <a:rPr sz="3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30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resources,</a:t>
            </a:r>
            <a:r>
              <a:rPr sz="32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increased</a:t>
            </a:r>
            <a:r>
              <a:rPr sz="32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latency.</a:t>
            </a:r>
            <a:r>
              <a:rPr sz="32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Traditional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25" dirty="0">
                <a:latin typeface="Times New Roman" panose="02020603050405020304"/>
                <a:cs typeface="Times New Roman" panose="02020603050405020304"/>
              </a:rPr>
              <a:t>balancing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20" dirty="0">
                <a:latin typeface="Times New Roman" panose="02020603050405020304"/>
                <a:cs typeface="Times New Roman" panose="02020603050405020304"/>
              </a:rPr>
              <a:t>methods</a:t>
            </a:r>
            <a:r>
              <a:rPr sz="32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5" dirty="0">
                <a:latin typeface="Times New Roman" panose="02020603050405020304"/>
                <a:cs typeface="Times New Roman" panose="02020603050405020304"/>
              </a:rPr>
              <a:t>fail</a:t>
            </a:r>
            <a:r>
              <a:rPr sz="32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efficiently</a:t>
            </a:r>
            <a:r>
              <a:rPr sz="32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utilize</a:t>
            </a:r>
            <a:r>
              <a:rPr sz="3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2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3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2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simultaneously.</a:t>
            </a:r>
            <a:r>
              <a:rPr sz="32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32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aims</a:t>
            </a:r>
            <a:r>
              <a:rPr sz="3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2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2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balancing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mechanism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SDN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controller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3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distribute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20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0" dirty="0"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3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optimal</a:t>
            </a:r>
            <a:r>
              <a:rPr sz="3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paths,</a:t>
            </a:r>
            <a:r>
              <a:rPr sz="3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0" dirty="0">
                <a:latin typeface="Times New Roman" panose="02020603050405020304"/>
                <a:cs typeface="Times New Roman" panose="02020603050405020304"/>
              </a:rPr>
              <a:t>thereby</a:t>
            </a:r>
            <a:r>
              <a:rPr sz="32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improving</a:t>
            </a:r>
            <a:r>
              <a:rPr sz="32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95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spc="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100" dirty="0">
                <a:latin typeface="Times New Roman" panose="02020603050405020304"/>
                <a:cs typeface="Times New Roman" panose="02020603050405020304"/>
              </a:rPr>
              <a:t>throughput,</a:t>
            </a:r>
            <a:r>
              <a:rPr sz="32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latin typeface="Times New Roman" panose="02020603050405020304"/>
                <a:cs typeface="Times New Roman" panose="02020603050405020304"/>
              </a:rPr>
              <a:t>reducing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latency,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enhancing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overall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reliability."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2590">
              <a:lnSpc>
                <a:spcPct val="100000"/>
              </a:lnSpc>
              <a:spcBef>
                <a:spcPts val="100"/>
              </a:spcBef>
            </a:pPr>
            <a:r>
              <a:rPr sz="4800" spc="-170" dirty="0"/>
              <a:t>OBJECTIVES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801035" y="202933"/>
            <a:ext cx="2921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50" dirty="0">
                <a:latin typeface="Times New Roman" panose="02020603050405020304"/>
                <a:cs typeface="Times New Roman" panose="02020603050405020304"/>
              </a:rPr>
              <a:t>5</a:t>
            </a:r>
            <a:endParaRPr sz="4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1282852"/>
            <a:ext cx="16523335" cy="7341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305" indent="-151130">
              <a:lnSpc>
                <a:spcPct val="100000"/>
              </a:lnSpc>
              <a:spcBef>
                <a:spcPts val="105"/>
              </a:spcBef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2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2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Routing: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6985">
              <a:lnSpc>
                <a:spcPct val="100000"/>
              </a:lnSpc>
            </a:pP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method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finding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destination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nodes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5" dirty="0">
                <a:latin typeface="Times New Roman" panose="02020603050405020304"/>
                <a:cs typeface="Times New Roman" panose="02020603050405020304"/>
              </a:rPr>
              <a:t>an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SDN</a:t>
            </a:r>
            <a:r>
              <a:rPr sz="3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environment.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Achieve</a:t>
            </a:r>
            <a:r>
              <a:rPr sz="3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Balancing: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1122045">
              <a:lnSpc>
                <a:spcPct val="100000"/>
              </a:lnSpc>
            </a:pP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distribute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evenly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paths,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reducing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congestion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improving performance.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32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2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SDN</a:t>
            </a:r>
            <a:r>
              <a:rPr sz="32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Controller: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</a:pP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solution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controller,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taking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advantage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programmable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Python-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architecture.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Utilize</a:t>
            </a:r>
            <a:r>
              <a:rPr sz="32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32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Features: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806450">
              <a:lnSpc>
                <a:spcPct val="100000"/>
              </a:lnSpc>
            </a:pP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3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(like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32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Tables)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applying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routing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controlling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2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flow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dynamically.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Evaluate</a:t>
            </a:r>
            <a:r>
              <a:rPr sz="32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Efficiency: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262255">
              <a:lnSpc>
                <a:spcPct val="100000"/>
              </a:lnSpc>
            </a:pPr>
            <a:r>
              <a:rPr sz="3200" spc="-35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measure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improvements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reduced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delay,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bandwidth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usage,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less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packet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loss.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1765" y="234315"/>
            <a:ext cx="63392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9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4800" b="1" spc="-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1" spc="-140" dirty="0">
                <a:latin typeface="Times New Roman" panose="02020603050405020304"/>
                <a:cs typeface="Times New Roman" panose="02020603050405020304"/>
              </a:rPr>
              <a:t>SOLUTION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1913979"/>
            <a:ext cx="17282795" cy="6414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305" indent="-151130">
              <a:lnSpc>
                <a:spcPct val="100000"/>
              </a:lnSpc>
              <a:spcBef>
                <a:spcPts val="105"/>
              </a:spcBef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b="1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25" dirty="0">
                <a:latin typeface="Times New Roman" panose="02020603050405020304"/>
                <a:cs typeface="Times New Roman" panose="02020603050405020304"/>
              </a:rPr>
              <a:t>Topology</a:t>
            </a:r>
            <a:r>
              <a:rPr sz="32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Design: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custom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topology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Mininet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destination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nodes.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255905" indent="-243205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255270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2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Controller</a:t>
            </a:r>
            <a:r>
              <a:rPr sz="320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Programming: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889635">
              <a:lnSpc>
                <a:spcPct val="100000"/>
              </a:lnSpc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custom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" sz="3200" spc="-45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IN" altLang="" sz="3200" dirty="0">
                <a:latin typeface="Times New Roman" panose="02020603050405020304"/>
                <a:cs typeface="Times New Roman" panose="02020603050405020304"/>
              </a:rPr>
              <a:t>o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detect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possible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DFS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calculate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optimal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paths.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3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Selection</a:t>
            </a:r>
            <a:r>
              <a:rPr sz="3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3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Distribution: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lang="en-IN" altLang="" sz="3200" dirty="0">
                <a:latin typeface="Times New Roman" panose="02020603050405020304"/>
                <a:cs typeface="Times New Roman" panose="02020603050405020304"/>
              </a:rPr>
              <a:t> different logics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distribute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across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balancing.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lang="en-US" altLang="en-US" sz="3200" b="1">
                <a:latin typeface="Times New Roman" panose="02020603050405020304"/>
                <a:cs typeface="Times New Roman" panose="02020603050405020304"/>
              </a:rPr>
              <a:t>Utilize OpenFlow Features:</a:t>
            </a:r>
            <a:endParaRPr lang="en-US" altLang="en-US" sz="3200" b="1">
              <a:latin typeface="Times New Roman" panose="02020603050405020304"/>
              <a:cs typeface="Times New Roman" panose="02020603050405020304"/>
            </a:endParaRPr>
          </a:p>
          <a:p>
            <a:pPr marL="3175" indent="0">
              <a:lnSpc>
                <a:spcPct val="100000"/>
              </a:lnSpc>
              <a:buSzPct val="97000"/>
              <a:buFont typeface="Times New Roman" panose="02020603050405020304"/>
              <a:buNone/>
              <a:tabLst>
                <a:tab pos="154305" algn="l"/>
              </a:tabLst>
            </a:pPr>
            <a:r>
              <a:rPr lang="en-US" altLang="en-US" sz="3200">
                <a:latin typeface="Times New Roman" panose="02020603050405020304"/>
                <a:cs typeface="Times New Roman" panose="02020603050405020304"/>
              </a:rPr>
              <a:t>To use OpenFlow (like Group Tables) for applying multipath routing and controlling traffic flow </a:t>
            </a:r>
            <a:endParaRPr lang="en-US" altLang="en-US" sz="3200">
              <a:latin typeface="Times New Roman" panose="02020603050405020304"/>
              <a:cs typeface="Times New Roman" panose="02020603050405020304"/>
            </a:endParaRPr>
          </a:p>
          <a:p>
            <a:pPr marL="3175" indent="0">
              <a:lnSpc>
                <a:spcPct val="100000"/>
              </a:lnSpc>
              <a:buSzPct val="97000"/>
              <a:buFont typeface="Times New Roman" panose="02020603050405020304"/>
              <a:buNone/>
              <a:tabLst>
                <a:tab pos="154305" algn="l"/>
              </a:tabLst>
            </a:pPr>
            <a:r>
              <a:rPr lang="en-US" altLang="en-US" sz="3200">
                <a:latin typeface="Times New Roman" panose="02020603050405020304"/>
                <a:cs typeface="Times New Roman" panose="02020603050405020304"/>
              </a:rPr>
              <a:t>dynamically</a:t>
            </a:r>
            <a:endParaRPr lang="en-US" altLang="en-US"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154305" algn="l"/>
              </a:tabLst>
            </a:pPr>
            <a:r>
              <a:rPr sz="3200" b="1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32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Monitoring</a:t>
            </a:r>
            <a:r>
              <a:rPr sz="32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32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Testing: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00000"/>
              </a:lnSpc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Simulate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tools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iperf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evaluate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metrics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throughput,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delay,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packet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loss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verify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improved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performance.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03193" y="191134"/>
            <a:ext cx="2921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spc="-50" dirty="0">
                <a:latin typeface="Times New Roman" panose="02020603050405020304"/>
                <a:cs typeface="Times New Roman" panose="02020603050405020304"/>
              </a:rPr>
              <a:t>6</a:t>
            </a:r>
            <a:endParaRPr sz="4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4879" y="215557"/>
            <a:ext cx="6325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90" dirty="0"/>
              <a:t>L</a:t>
            </a:r>
            <a:r>
              <a:rPr sz="4800" spc="-185" dirty="0"/>
              <a:t>I</a:t>
            </a:r>
            <a:r>
              <a:rPr sz="4800" spc="-190" dirty="0"/>
              <a:t>TER</a:t>
            </a:r>
            <a:r>
              <a:rPr sz="4800" spc="-550" dirty="0"/>
              <a:t>A</a:t>
            </a:r>
            <a:r>
              <a:rPr sz="4800" spc="-190" dirty="0"/>
              <a:t>TUR</a:t>
            </a:r>
            <a:r>
              <a:rPr sz="4800" dirty="0"/>
              <a:t>E</a:t>
            </a:r>
            <a:r>
              <a:rPr sz="4800" spc="-375" dirty="0"/>
              <a:t> </a:t>
            </a:r>
            <a:r>
              <a:rPr sz="4800" spc="-140" dirty="0"/>
              <a:t>REVIEW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5255239" y="215557"/>
            <a:ext cx="33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Times New Roman" panose="02020603050405020304"/>
                <a:cs typeface="Times New Roman" panose="02020603050405020304"/>
              </a:rPr>
              <a:t>7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97873" y="9720732"/>
            <a:ext cx="265430" cy="54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50" dirty="0">
                <a:solidFill>
                  <a:srgbClr val="CAB89D"/>
                </a:solidFill>
                <a:latin typeface="Arial MT"/>
                <a:cs typeface="Arial MT"/>
              </a:rPr>
              <a:t>2</a:t>
            </a:r>
            <a:endParaRPr sz="34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08025" y="1562100"/>
          <a:ext cx="16645255" cy="700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4280"/>
                <a:gridCol w="3749675"/>
                <a:gridCol w="4866640"/>
                <a:gridCol w="3643630"/>
                <a:gridCol w="3161030"/>
              </a:tblGrid>
              <a:tr h="6489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SL</a:t>
                      </a:r>
                      <a:r>
                        <a:rPr sz="2800" b="1" spc="-1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25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682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Citation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Concept</a:t>
                      </a:r>
                      <a:r>
                        <a:rPr sz="28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28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Contribution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Relevance</a:t>
                      </a:r>
                      <a:r>
                        <a:rPr sz="28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28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Learnings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2120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Identified</a:t>
                      </a:r>
                      <a:r>
                        <a:rPr sz="2800" b="1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25" dirty="0">
                          <a:latin typeface="Times New Roman" panose="02020603050405020304"/>
                          <a:cs typeface="Times New Roman" panose="02020603050405020304"/>
                        </a:rPr>
                        <a:t>Gap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84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A. Di Maio, M. R. Palattella, and T. Engel, “Multi-Flow Congestion-Aware Routing in Software-Defined Vehicular Networks,”</a:t>
                      </a:r>
                      <a:endParaRPr lang="en-IN" sz="2800" b="0" spc="-2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6675" marR="60325"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Proposes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MFCAR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centralized congestion-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aware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 routing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algorithm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5G</a:t>
                      </a:r>
                      <a:r>
                        <a:rPr sz="28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SDVNs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,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dynamically</a:t>
                      </a:r>
                      <a:r>
                        <a:rPr sz="280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switching</a:t>
                      </a:r>
                      <a:r>
                        <a:rPr sz="2800" spc="-1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V2I2V</a:t>
                      </a:r>
                      <a:r>
                        <a:rPr sz="2800" spc="-1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to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V2V</a:t>
                      </a:r>
                      <a:r>
                        <a:rPr sz="280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paths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using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graph-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based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congestion</a:t>
                      </a:r>
                      <a:r>
                        <a:rPr sz="28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estimation.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0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03505" marR="97155"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Shows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centralized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SDN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can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efficiently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manage multi-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flow</a:t>
                      </a:r>
                      <a:r>
                        <a:rPr sz="2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vehicular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traffic.</a:t>
                      </a:r>
                      <a:r>
                        <a:rPr sz="2800" spc="-1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Avoids</a:t>
                      </a:r>
                      <a:r>
                        <a:rPr sz="28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channel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probing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via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estimation.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93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0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0960" marR="53975" indent="-635"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Limited</a:t>
                      </a:r>
                      <a:r>
                        <a:rPr sz="2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vehicular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networks.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Our</a:t>
                      </a:r>
                      <a:r>
                        <a:rPr sz="28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work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generalizes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IP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traffic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mixed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SDN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topologies.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93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66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D. </a:t>
                      </a:r>
                      <a:r>
                        <a:rPr lang="en-US" sz="2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Goteti</a:t>
                      </a:r>
                      <a:r>
                        <a:rPr lang="en-US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and I. Rasheed, “Multipath Routing Algorithm to Find Optimal Path in SDN with POX Controller,”</a:t>
                      </a:r>
                      <a:endParaRPr sz="2800" b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50800" marR="43180" indent="-635"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Introduces</a:t>
                      </a:r>
                      <a:r>
                        <a:rPr sz="2800" spc="-1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multipath</a:t>
                      </a:r>
                      <a:r>
                        <a:rPr sz="2800" b="1" spc="-10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routing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using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POX</a:t>
                      </a:r>
                      <a:r>
                        <a:rPr sz="2800" b="1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controller</a:t>
                      </a:r>
                      <a:r>
                        <a:rPr sz="2800" b="1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US" sz="2800" dirty="0">
                          <a:latin typeface="Times New Roman" panose="02020603050405020304" pitchFamily="18" charset="0"/>
                          <a:ea typeface="+mn-lt"/>
                          <a:cs typeface="Times New Roman" panose="02020603050405020304" pitchFamily="18" charset="0"/>
                          <a:sym typeface="+mn-ea"/>
                        </a:rPr>
                        <a:t>to identify optimal and alternative paths to reduce congestion. 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23825" marR="116205" algn="ctr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Confirms</a:t>
                      </a:r>
                      <a:r>
                        <a:rPr sz="28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that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topology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design</a:t>
                      </a:r>
                      <a:r>
                        <a:rPr sz="28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impacts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SDN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performance.</a:t>
                      </a:r>
                      <a:r>
                        <a:rPr sz="2800" spc="-1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POX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enables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effective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congestion</a:t>
                      </a:r>
                      <a:r>
                        <a:rPr sz="28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control.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7305" marR="20320" indent="-1270" algn="ctr">
                        <a:lnSpc>
                          <a:spcPct val="100000"/>
                        </a:lnSpc>
                      </a:pP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Tested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only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static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topologies.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Our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study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uses</a:t>
                      </a:r>
                      <a:r>
                        <a:rPr sz="2800" spc="-8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Ryu</a:t>
                      </a:r>
                      <a:r>
                        <a:rPr sz="2800" b="1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supports</a:t>
                      </a:r>
                      <a:r>
                        <a:rPr sz="280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dynamic environments.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98259" y="186055"/>
            <a:ext cx="63258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90" dirty="0"/>
              <a:t>L</a:t>
            </a:r>
            <a:r>
              <a:rPr sz="4800" spc="-185" dirty="0"/>
              <a:t>I</a:t>
            </a:r>
            <a:r>
              <a:rPr sz="4800" spc="-190" dirty="0"/>
              <a:t>TER</a:t>
            </a:r>
            <a:r>
              <a:rPr sz="4800" spc="-550" dirty="0"/>
              <a:t>A</a:t>
            </a:r>
            <a:r>
              <a:rPr sz="4800" spc="-190" dirty="0"/>
              <a:t>TUR</a:t>
            </a:r>
            <a:r>
              <a:rPr sz="4800" dirty="0"/>
              <a:t>E</a:t>
            </a:r>
            <a:r>
              <a:rPr sz="4800" spc="-375" dirty="0"/>
              <a:t> </a:t>
            </a:r>
            <a:r>
              <a:rPr sz="4800" spc="-140" dirty="0"/>
              <a:t>REVIEW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4726285" y="186055"/>
            <a:ext cx="33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Times New Roman" panose="02020603050405020304"/>
                <a:cs typeface="Times New Roman" panose="02020603050405020304"/>
              </a:rPr>
              <a:t>8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6550" y="1169035"/>
          <a:ext cx="17546320" cy="832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3950"/>
                <a:gridCol w="4763135"/>
                <a:gridCol w="4744720"/>
                <a:gridCol w="3462020"/>
                <a:gridCol w="3452495"/>
              </a:tblGrid>
              <a:tr h="8547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SL</a:t>
                      </a:r>
                      <a:r>
                        <a:rPr sz="2800" b="1" spc="-1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25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Citation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Concept</a:t>
                      </a:r>
                      <a:r>
                        <a:rPr sz="2800" b="1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2800" b="1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Contribution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5040" marR="765175" indent="-191770">
                        <a:lnSpc>
                          <a:spcPts val="3360"/>
                        </a:lnSpc>
                        <a:spcBef>
                          <a:spcPts val="1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Relevance</a:t>
                      </a:r>
                      <a:r>
                        <a:rPr sz="2800" b="1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50" dirty="0">
                          <a:latin typeface="Times New Roman" panose="02020603050405020304"/>
                          <a:cs typeface="Times New Roman" panose="02020603050405020304"/>
                        </a:rPr>
                        <a:t>&amp;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Learnings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468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Identified</a:t>
                      </a:r>
                      <a:r>
                        <a:rPr sz="2800" b="1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25" dirty="0">
                          <a:latin typeface="Times New Roman" panose="02020603050405020304"/>
                          <a:cs typeface="Times New Roman" panose="02020603050405020304"/>
                        </a:rPr>
                        <a:t>Gap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4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M. Shafiee and J. Ghaderi, “A Simple Congestion-Aware Algorithm for Load Balancing in </a:t>
                      </a:r>
                      <a:r>
                        <a:rPr lang="en-IN" sz="2800" b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Datacenter</a:t>
                      </a: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Networks,”</a:t>
                      </a:r>
                      <a:endParaRPr sz="2800" b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41275"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Proposes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myopic,</a:t>
                      </a:r>
                      <a:r>
                        <a:rPr sz="2800" b="1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congestion-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aware</a:t>
                      </a:r>
                      <a:r>
                        <a:rPr sz="2800" b="1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algorithm</a:t>
                      </a:r>
                      <a:r>
                        <a:rPr sz="28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280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unsplittable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flows</a:t>
                      </a:r>
                      <a:r>
                        <a:rPr sz="28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in</a:t>
                      </a:r>
                      <a:r>
                        <a:rPr sz="2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datacenter</a:t>
                      </a:r>
                      <a:r>
                        <a:rPr sz="2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networks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near-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optimal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load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balance.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53340"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Simple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routing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with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local</a:t>
                      </a:r>
                      <a:r>
                        <a:rPr sz="28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cost</a:t>
                      </a:r>
                      <a:r>
                        <a:rPr sz="28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minimization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can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achieve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global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load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balancing.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 marR="63500" indent="-1270" algn="ctr">
                        <a:lnSpc>
                          <a:spcPts val="3360"/>
                        </a:lnSpc>
                        <a:spcBef>
                          <a:spcPts val="10"/>
                        </a:spcBef>
                      </a:pP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Datacenter-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specific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model.</a:t>
                      </a:r>
                      <a:r>
                        <a:rPr sz="2800" spc="-1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We</a:t>
                      </a:r>
                      <a:r>
                        <a:rPr sz="2800" spc="-9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apply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similar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principles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to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general-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purpose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SDN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topology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changes.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61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60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L. L. Prasanth and E. Uma, “A Computationally Intelligent Framework for Traffic Engineering and Congestion Management in Software-Defined Network (SDN),”</a:t>
                      </a:r>
                      <a:endParaRPr sz="2800" b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 marR="43815" indent="-635"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Presents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20" dirty="0">
                          <a:latin typeface="Times New Roman" panose="02020603050405020304"/>
                          <a:cs typeface="Times New Roman" panose="02020603050405020304"/>
                        </a:rPr>
                        <a:t>AI-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28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SDN</a:t>
                      </a:r>
                      <a:r>
                        <a:rPr sz="2800" b="1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with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mGRNN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prediction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25" dirty="0">
                          <a:latin typeface="Times New Roman" panose="02020603050405020304"/>
                          <a:cs typeface="Times New Roman" panose="02020603050405020304"/>
                        </a:rPr>
                        <a:t>CA- </a:t>
                      </a: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HPO</a:t>
                      </a:r>
                      <a:r>
                        <a:rPr sz="28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congestion-aware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routing.</a:t>
                      </a:r>
                      <a:r>
                        <a:rPr sz="2800" spc="-9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Improved</a:t>
                      </a:r>
                      <a:r>
                        <a:rPr sz="2800" spc="-9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throughput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delay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vs.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GA/PSO.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Combines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deep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learning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+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metaheuristics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proactive</a:t>
                      </a:r>
                      <a:r>
                        <a:rPr sz="280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traffic</a:t>
                      </a:r>
                      <a:r>
                        <a:rPr sz="280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control.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181610" algn="ctr">
                        <a:lnSpc>
                          <a:spcPts val="3360"/>
                        </a:lnSpc>
                        <a:spcBef>
                          <a:spcPts val="1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High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computational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overhead.</a:t>
                      </a:r>
                      <a:r>
                        <a:rPr sz="280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Our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approach</a:t>
                      </a:r>
                      <a:r>
                        <a:rPr sz="280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uses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lightweight</a:t>
                      </a:r>
                      <a:r>
                        <a:rPr sz="2800" spc="-8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multipath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routing</a:t>
                      </a:r>
                      <a:r>
                        <a:rPr sz="28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for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real-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time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adaptation.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78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lang="en-US" sz="2800" b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J. Chen, W. Xiao, H. Zhang, J. Zuo, and X. Li, “Dynamic Routing Optimization in Software-Defined Networking Based on a Metaheuristic ”</a:t>
                      </a:r>
                      <a:endParaRPr sz="2800" b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 marR="120650" indent="-1270" algn="ctr">
                        <a:lnSpc>
                          <a:spcPts val="3360"/>
                        </a:lnSpc>
                        <a:spcBef>
                          <a:spcPts val="1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Proposes</a:t>
                      </a:r>
                      <a:r>
                        <a:rPr sz="2800" spc="-9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b="1" spc="-70" dirty="0">
                          <a:latin typeface="Times New Roman" panose="02020603050405020304"/>
                          <a:cs typeface="Times New Roman" panose="02020603050405020304"/>
                        </a:rPr>
                        <a:t>AVRO</a:t>
                      </a:r>
                      <a:r>
                        <a:rPr sz="2800" spc="-70" dirty="0">
                          <a:latin typeface="Times New Roman" panose="02020603050405020304"/>
                          <a:cs typeface="Times New Roman" panose="02020603050405020304"/>
                        </a:rPr>
                        <a:t>,</a:t>
                      </a:r>
                      <a:r>
                        <a:rPr sz="2800" spc="-8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a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metaheuristic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routing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optimizer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using</a:t>
                      </a:r>
                      <a:r>
                        <a:rPr sz="28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link</a:t>
                      </a:r>
                      <a:r>
                        <a:rPr sz="28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betweenness</a:t>
                      </a:r>
                      <a:r>
                        <a:rPr sz="28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adaptive</a:t>
                      </a:r>
                      <a:r>
                        <a:rPr sz="2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stages.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Outperforms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DRL</a:t>
                      </a:r>
                      <a:r>
                        <a:rPr sz="2800" spc="-1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2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traditional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methods.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 marR="76200" indent="-13970"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Metaheuristics</a:t>
                      </a:r>
                      <a:r>
                        <a:rPr sz="28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offer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better</a:t>
                      </a:r>
                      <a:r>
                        <a:rPr sz="28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scalability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 and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load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balance</a:t>
                      </a:r>
                      <a:r>
                        <a:rPr sz="28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than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 DRL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under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dynamic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loads.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 marR="153670" algn="ctr">
                        <a:lnSpc>
                          <a:spcPts val="3360"/>
                        </a:lnSpc>
                        <a:spcBef>
                          <a:spcPts val="10"/>
                        </a:spcBef>
                      </a:pP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Evaluated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only</a:t>
                      </a:r>
                      <a:r>
                        <a:rPr sz="28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5" dirty="0">
                          <a:latin typeface="Times New Roman" panose="02020603050405020304"/>
                          <a:cs typeface="Times New Roman" panose="02020603050405020304"/>
                        </a:rPr>
                        <a:t>in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simulation.</a:t>
                      </a:r>
                      <a:r>
                        <a:rPr sz="28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Our</a:t>
                      </a:r>
                      <a:r>
                        <a:rPr sz="2800" spc="-6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work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integrates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28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20" dirty="0">
                          <a:latin typeface="Times New Roman" panose="02020603050405020304"/>
                          <a:cs typeface="Times New Roman" panose="02020603050405020304"/>
                        </a:rPr>
                        <a:t>real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SDN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dirty="0">
                          <a:latin typeface="Times New Roman" panose="02020603050405020304"/>
                          <a:cs typeface="Times New Roman" panose="02020603050405020304"/>
                        </a:rPr>
                        <a:t>controllers</a:t>
                      </a:r>
                      <a:r>
                        <a:rPr sz="28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800" spc="-10" dirty="0">
                          <a:latin typeface="Times New Roman" panose="02020603050405020304"/>
                          <a:cs typeface="Times New Roman" panose="02020603050405020304"/>
                        </a:rPr>
                        <a:t>(e.g., Ryu).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07019" y="186055"/>
            <a:ext cx="40017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85" dirty="0"/>
              <a:t>COM</a:t>
            </a:r>
            <a:r>
              <a:rPr sz="4800" spc="-555" dirty="0"/>
              <a:t>P</a:t>
            </a:r>
            <a:r>
              <a:rPr sz="4800" spc="-185" dirty="0"/>
              <a:t>AR</a:t>
            </a:r>
            <a:r>
              <a:rPr sz="4800" spc="-180" dirty="0"/>
              <a:t>I</a:t>
            </a:r>
            <a:r>
              <a:rPr sz="4800" spc="-185" dirty="0"/>
              <a:t>SO</a:t>
            </a:r>
            <a:r>
              <a:rPr sz="4800" spc="5" dirty="0"/>
              <a:t>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4648180" y="186055"/>
            <a:ext cx="330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>
                <a:latin typeface="Times New Roman" panose="02020603050405020304"/>
                <a:cs typeface="Times New Roman" panose="02020603050405020304"/>
              </a:rPr>
              <a:t>9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60647" y="1258824"/>
            <a:ext cx="10972800" cy="7840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/>
              <a:t>SDN</a:t>
            </a:r>
            <a:r>
              <a:rPr sz="4800" spc="-290" dirty="0"/>
              <a:t> </a:t>
            </a:r>
            <a:r>
              <a:rPr sz="4800" dirty="0"/>
              <a:t>AND</a:t>
            </a:r>
            <a:r>
              <a:rPr sz="4800" spc="-110" dirty="0"/>
              <a:t> </a:t>
            </a:r>
            <a:r>
              <a:rPr sz="4800" dirty="0"/>
              <a:t>RYU</a:t>
            </a:r>
            <a:r>
              <a:rPr sz="4800" spc="-75" dirty="0"/>
              <a:t> </a:t>
            </a:r>
            <a:r>
              <a:rPr sz="4800" spc="-10" dirty="0"/>
              <a:t>OVERVIEW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14086699" y="123608"/>
            <a:ext cx="63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5" dirty="0">
                <a:latin typeface="Times New Roman" panose="02020603050405020304"/>
                <a:cs typeface="Times New Roman" panose="02020603050405020304"/>
              </a:rPr>
              <a:t>10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1200" y="2171700"/>
            <a:ext cx="14153515" cy="654494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89865" indent="-185420">
              <a:lnSpc>
                <a:spcPct val="100000"/>
              </a:lnSpc>
              <a:spcBef>
                <a:spcPts val="95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4000" b="1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4000" b="1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Networking</a:t>
            </a:r>
            <a:r>
              <a:rPr sz="4000" b="1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spc="-10" dirty="0">
                <a:latin typeface="Times New Roman" panose="02020603050405020304"/>
                <a:cs typeface="Times New Roman" panose="02020603050405020304"/>
              </a:rPr>
              <a:t>(SDN):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071245" lvl="1" indent="-376555">
              <a:lnSpc>
                <a:spcPct val="100000"/>
              </a:lnSpc>
              <a:spcBef>
                <a:spcPts val="20"/>
              </a:spcBef>
              <a:buSzPct val="97000"/>
              <a:buFont typeface="Wingdings" panose="05000000000000000000"/>
              <a:buChar char=""/>
              <a:tabLst>
                <a:tab pos="1071245" algn="l"/>
              </a:tabLst>
            </a:pPr>
            <a:r>
              <a:rPr sz="3700" dirty="0">
                <a:latin typeface="Times New Roman" panose="02020603050405020304"/>
                <a:cs typeface="Times New Roman" panose="02020603050405020304"/>
              </a:rPr>
              <a:t>Separates</a:t>
            </a:r>
            <a:r>
              <a:rPr sz="37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37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Plane</a:t>
            </a:r>
            <a:r>
              <a:rPr sz="37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7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7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spc="-10" dirty="0">
                <a:latin typeface="Times New Roman" panose="02020603050405020304"/>
                <a:cs typeface="Times New Roman" panose="02020603050405020304"/>
              </a:rPr>
              <a:t>Plane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marL="1071245" lvl="1" indent="-376555">
              <a:lnSpc>
                <a:spcPct val="100000"/>
              </a:lnSpc>
              <a:buSzPct val="97000"/>
              <a:buFont typeface="Wingdings" panose="05000000000000000000"/>
              <a:buChar char=""/>
              <a:tabLst>
                <a:tab pos="1071245" algn="l"/>
              </a:tabLst>
            </a:pPr>
            <a:r>
              <a:rPr sz="3700" dirty="0"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37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7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37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view</a:t>
            </a:r>
            <a:r>
              <a:rPr sz="37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7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7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network.</a:t>
            </a: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marL="1071245" lvl="1" indent="-376555">
              <a:lnSpc>
                <a:spcPct val="100000"/>
              </a:lnSpc>
              <a:buSzPct val="97000"/>
              <a:buFont typeface="Wingdings" panose="05000000000000000000"/>
              <a:buChar char=""/>
              <a:tabLst>
                <a:tab pos="1071245" algn="l"/>
              </a:tabLst>
            </a:pPr>
            <a:r>
              <a:rPr sz="3700" dirty="0">
                <a:latin typeface="Times New Roman" panose="02020603050405020304"/>
                <a:cs typeface="Times New Roman" panose="02020603050405020304"/>
              </a:rPr>
              <a:t>Enables</a:t>
            </a:r>
            <a:r>
              <a:rPr sz="37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flexible</a:t>
            </a:r>
            <a:r>
              <a:rPr sz="37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reconfiguration</a:t>
            </a:r>
            <a:r>
              <a:rPr sz="37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7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programmability.</a:t>
            </a: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165"/>
              </a:spcBef>
              <a:buFont typeface="Wingdings" panose="05000000000000000000"/>
              <a:buChar char=""/>
            </a:pP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marL="189865" indent="-185420">
              <a:lnSpc>
                <a:spcPct val="100000"/>
              </a:lnSpc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4000" b="1" spc="-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spc="-10" dirty="0">
                <a:latin typeface="Times New Roman" panose="02020603050405020304"/>
                <a:cs typeface="Times New Roman" panose="02020603050405020304"/>
              </a:rPr>
              <a:t>Controller: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071245" lvl="1" indent="-376555">
              <a:lnSpc>
                <a:spcPct val="100000"/>
              </a:lnSpc>
              <a:spcBef>
                <a:spcPts val="20"/>
              </a:spcBef>
              <a:buSzPct val="97000"/>
              <a:buFont typeface="Wingdings" panose="05000000000000000000"/>
              <a:buChar char=""/>
              <a:tabLst>
                <a:tab pos="1071245" algn="l"/>
              </a:tabLst>
            </a:pPr>
            <a:r>
              <a:rPr sz="3700" spc="-25" dirty="0">
                <a:latin typeface="Times New Roman" panose="02020603050405020304"/>
                <a:cs typeface="Times New Roman" panose="02020603050405020304"/>
              </a:rPr>
              <a:t>Python-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7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20" dirty="0">
                <a:latin typeface="Times New Roman" panose="02020603050405020304"/>
                <a:cs typeface="Times New Roman" panose="02020603050405020304"/>
              </a:rPr>
              <a:t>open-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37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SDN</a:t>
            </a:r>
            <a:r>
              <a:rPr sz="37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controller.</a:t>
            </a: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marL="1071245" lvl="1" indent="-376555">
              <a:lnSpc>
                <a:spcPct val="100000"/>
              </a:lnSpc>
              <a:buSzPct val="97000"/>
              <a:buFont typeface="Wingdings" panose="05000000000000000000"/>
              <a:buChar char=""/>
              <a:tabLst>
                <a:tab pos="1071245" algn="l"/>
              </a:tabLst>
            </a:pPr>
            <a:r>
              <a:rPr sz="3700" dirty="0">
                <a:latin typeface="Times New Roman" panose="02020603050405020304"/>
                <a:cs typeface="Times New Roman" panose="02020603050405020304"/>
              </a:rPr>
              <a:t>Uses</a:t>
            </a:r>
            <a:r>
              <a:rPr sz="37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37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1.3</a:t>
            </a:r>
            <a:r>
              <a:rPr sz="37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7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manage</a:t>
            </a:r>
            <a:r>
              <a:rPr sz="37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7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switches.</a:t>
            </a:r>
            <a:endParaRPr sz="3700">
              <a:latin typeface="Times New Roman" panose="02020603050405020304"/>
              <a:cs typeface="Times New Roman" panose="02020603050405020304"/>
            </a:endParaRPr>
          </a:p>
          <a:p>
            <a:pPr marL="1071245" lvl="1" indent="-376555">
              <a:lnSpc>
                <a:spcPct val="100000"/>
              </a:lnSpc>
              <a:buSzPct val="97000"/>
              <a:buFont typeface="Wingdings" panose="05000000000000000000"/>
              <a:buChar char=""/>
              <a:tabLst>
                <a:tab pos="1071245" algn="l"/>
              </a:tabLst>
            </a:pPr>
            <a:r>
              <a:rPr sz="3700" dirty="0">
                <a:latin typeface="Times New Roman" panose="02020603050405020304"/>
                <a:cs typeface="Times New Roman" panose="02020603050405020304"/>
              </a:rPr>
              <a:t>Ideal</a:t>
            </a:r>
            <a:r>
              <a:rPr sz="37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7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rapid</a:t>
            </a:r>
            <a:r>
              <a:rPr sz="37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7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b="1" dirty="0">
                <a:latin typeface="Times New Roman" panose="02020603050405020304"/>
                <a:cs typeface="Times New Roman" panose="02020603050405020304"/>
              </a:rPr>
              <a:t>prototyping</a:t>
            </a:r>
            <a:r>
              <a:rPr sz="37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7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dirty="0">
                <a:latin typeface="Times New Roman" panose="02020603050405020304"/>
                <a:cs typeface="Times New Roman" panose="02020603050405020304"/>
              </a:rPr>
              <a:t>algorithm</a:t>
            </a:r>
            <a:r>
              <a:rPr sz="37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00" spc="-10" dirty="0">
                <a:latin typeface="Times New Roman" panose="02020603050405020304"/>
                <a:cs typeface="Times New Roman" panose="02020603050405020304"/>
              </a:rPr>
              <a:t>testing</a:t>
            </a:r>
            <a:endParaRPr sz="3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69951" y="172593"/>
            <a:ext cx="94456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45550" algn="l"/>
              </a:tabLst>
            </a:pPr>
            <a:r>
              <a:rPr sz="4800" spc="-10" dirty="0"/>
              <a:t>METHODOLOGY</a:t>
            </a:r>
            <a:r>
              <a:rPr sz="4800" dirty="0"/>
              <a:t>	</a:t>
            </a:r>
            <a:r>
              <a:rPr sz="4800" b="0" spc="-70" dirty="0">
                <a:latin typeface="Times New Roman" panose="02020603050405020304"/>
                <a:cs typeface="Times New Roman" panose="02020603050405020304"/>
              </a:rPr>
              <a:t>11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9103" y="1724584"/>
            <a:ext cx="16142335" cy="6473190"/>
          </a:xfrm>
          <a:prstGeom prst="rect">
            <a:avLst/>
          </a:prstGeom>
        </p:spPr>
        <p:txBody>
          <a:bodyPr vert="horz" wrap="square" lIns="0" tIns="317500" rIns="0" bIns="0" rtlCol="0">
            <a:spAutoFit/>
          </a:bodyPr>
          <a:lstStyle/>
          <a:p>
            <a:pPr marL="189865" indent="-185420">
              <a:lnSpc>
                <a:spcPct val="100000"/>
              </a:lnSpc>
              <a:spcBef>
                <a:spcPts val="2500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4000" b="1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spc="-40" dirty="0">
                <a:latin typeface="Times New Roman" panose="02020603050405020304"/>
                <a:cs typeface="Times New Roman" panose="02020603050405020304"/>
              </a:rPr>
              <a:t>Topology</a:t>
            </a:r>
            <a:r>
              <a:rPr sz="4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4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Mininet</a:t>
            </a:r>
            <a:r>
              <a:rPr sz="4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(multiple</a:t>
            </a:r>
            <a:r>
              <a:rPr sz="40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40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source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destination).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89865" indent="-185420">
              <a:lnSpc>
                <a:spcPct val="100000"/>
              </a:lnSpc>
              <a:spcBef>
                <a:spcPts val="2400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Start</a:t>
            </a:r>
            <a:r>
              <a:rPr sz="40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4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spc="-10" dirty="0">
                <a:latin typeface="Times New Roman" panose="02020603050405020304"/>
                <a:cs typeface="Times New Roman" panose="02020603050405020304"/>
              </a:rPr>
              <a:t>Controller</a:t>
            </a:r>
            <a:r>
              <a:rPr sz="4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40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" sz="4000" spc="-114" dirty="0">
                <a:latin typeface="Times New Roman" panose="02020603050405020304"/>
                <a:cs typeface="Times New Roman" panose="02020603050405020304"/>
              </a:rPr>
              <a:t>the program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40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discovery.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89865" indent="-185420">
              <a:lnSpc>
                <a:spcPct val="100000"/>
              </a:lnSpc>
              <a:spcBef>
                <a:spcPts val="2400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Collect</a:t>
            </a:r>
            <a:r>
              <a:rPr sz="4000" b="1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4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statistics</a:t>
            </a:r>
            <a:r>
              <a:rPr sz="4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40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SFlow.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89865" indent="-185420">
              <a:lnSpc>
                <a:spcPct val="100000"/>
              </a:lnSpc>
              <a:spcBef>
                <a:spcPts val="2400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Calculate</a:t>
            </a:r>
            <a:r>
              <a:rPr sz="40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40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costs</a:t>
            </a:r>
            <a:r>
              <a:rPr sz="4000" b="1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4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4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40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bandwidth.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89865" indent="-185420">
              <a:lnSpc>
                <a:spcPct val="100000"/>
              </a:lnSpc>
              <a:spcBef>
                <a:spcPts val="2400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Select</a:t>
            </a:r>
            <a:r>
              <a:rPr sz="4000" b="1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4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40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minimum</a:t>
            </a:r>
            <a:r>
              <a:rPr sz="4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cost</a:t>
            </a:r>
            <a:r>
              <a:rPr sz="40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40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40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transmission.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89865" indent="-185420">
              <a:lnSpc>
                <a:spcPct val="100000"/>
              </a:lnSpc>
              <a:spcBef>
                <a:spcPts val="2400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Install</a:t>
            </a:r>
            <a:r>
              <a:rPr sz="40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" sz="4000" b="1" spc="-105" dirty="0">
                <a:latin typeface="Times New Roman" panose="02020603050405020304"/>
                <a:cs typeface="Times New Roman" panose="02020603050405020304"/>
              </a:rPr>
              <a:t>gr</a:t>
            </a:r>
            <a:r>
              <a:rPr sz="4000" b="1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lang="en-IN" altLang="" sz="4000" b="1" dirty="0">
                <a:latin typeface="Times New Roman" panose="02020603050405020304"/>
                <a:cs typeface="Times New Roman" panose="02020603050405020304"/>
                <a:sym typeface="+mn-ea"/>
              </a:rPr>
              <a:t>up</a:t>
            </a:r>
            <a:r>
              <a:rPr sz="40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entries</a:t>
            </a:r>
            <a:r>
              <a:rPr sz="4000" b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4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4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40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tables.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89865" indent="-185420">
              <a:lnSpc>
                <a:spcPct val="100000"/>
              </a:lnSpc>
              <a:spcBef>
                <a:spcPts val="2400"/>
              </a:spcBef>
              <a:buSzPct val="98000"/>
              <a:buFont typeface="Times New Roman" panose="02020603050405020304"/>
              <a:buChar char="•"/>
              <a:tabLst>
                <a:tab pos="189865" algn="l"/>
              </a:tabLst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Generate</a:t>
            </a:r>
            <a:r>
              <a:rPr sz="4000" b="1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4000" b="1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40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Iperf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40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measure</a:t>
            </a:r>
            <a:r>
              <a:rPr sz="40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40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spc="-10" dirty="0">
                <a:latin typeface="Times New Roman" panose="02020603050405020304"/>
                <a:cs typeface="Times New Roman" panose="02020603050405020304"/>
              </a:rPr>
              <a:t>metrics.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1630" y="243840"/>
            <a:ext cx="152749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51990" algn="l"/>
              </a:tabLst>
            </a:pPr>
            <a:r>
              <a:rPr sz="4800" dirty="0"/>
              <a:t>ALGORITHM</a:t>
            </a:r>
            <a:r>
              <a:rPr sz="4800" spc="-204" dirty="0"/>
              <a:t> </a:t>
            </a:r>
            <a:r>
              <a:rPr sz="4800" dirty="0"/>
              <a:t>DESIGN(DFS+BANDWIDTH</a:t>
            </a:r>
            <a:r>
              <a:rPr sz="4800" spc="-195" dirty="0"/>
              <a:t> </a:t>
            </a:r>
            <a:r>
              <a:rPr sz="4800" spc="-20" dirty="0"/>
              <a:t>COST)</a:t>
            </a:r>
            <a:r>
              <a:rPr sz="4800" dirty="0"/>
              <a:t>	</a:t>
            </a:r>
            <a:r>
              <a:rPr sz="4800" b="0" spc="-25" dirty="0">
                <a:latin typeface="Times New Roman" panose="02020603050405020304"/>
                <a:cs typeface="Times New Roman" panose="02020603050405020304"/>
              </a:rPr>
              <a:t>12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175" y="1979117"/>
            <a:ext cx="15781019" cy="5826125"/>
          </a:xfrm>
          <a:prstGeom prst="rect">
            <a:avLst/>
          </a:prstGeom>
        </p:spPr>
        <p:txBody>
          <a:bodyPr vert="horz" wrap="square" lIns="0" tIns="332740" rIns="0" bIns="0" rtlCol="0">
            <a:spAutoFit/>
          </a:bodyPr>
          <a:lstStyle/>
          <a:p>
            <a:pPr marL="198755" indent="-195580">
              <a:lnSpc>
                <a:spcPct val="100000"/>
              </a:lnSpc>
              <a:spcBef>
                <a:spcPts val="2620"/>
              </a:spcBef>
              <a:buSzPct val="98000"/>
              <a:buFont typeface="Times New Roman" panose="02020603050405020304"/>
              <a:buChar char="•"/>
              <a:tabLst>
                <a:tab pos="198755" algn="l"/>
                <a:tab pos="10864850" algn="l"/>
                <a:tab pos="13294360" algn="l"/>
              </a:tabLst>
            </a:pPr>
            <a:r>
              <a:rPr sz="4200" b="1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4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1:</a:t>
            </a:r>
            <a:r>
              <a:rPr sz="4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DFS</a:t>
            </a:r>
            <a:r>
              <a:rPr sz="4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identifies</a:t>
            </a:r>
            <a:r>
              <a:rPr sz="4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all</a:t>
            </a:r>
            <a:r>
              <a:rPr sz="4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possible</a:t>
            </a:r>
            <a:r>
              <a:rPr sz="4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4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source</a:t>
            </a:r>
            <a:r>
              <a:rPr sz="4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2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destination.</a:t>
            </a:r>
            <a:endParaRPr sz="4200">
              <a:latin typeface="Times New Roman" panose="02020603050405020304"/>
              <a:cs typeface="Times New Roman" panose="02020603050405020304"/>
            </a:endParaRPr>
          </a:p>
          <a:p>
            <a:pPr marL="198755" indent="-195580">
              <a:lnSpc>
                <a:spcPct val="100000"/>
              </a:lnSpc>
              <a:spcBef>
                <a:spcPts val="2520"/>
              </a:spcBef>
              <a:buSzPct val="98000"/>
              <a:buFont typeface="Times New Roman" panose="02020603050405020304"/>
              <a:buChar char="•"/>
              <a:tabLst>
                <a:tab pos="198755" algn="l"/>
                <a:tab pos="3117215" algn="l"/>
                <a:tab pos="6819900" algn="l"/>
                <a:tab pos="7724140" algn="l"/>
                <a:tab pos="12182475" algn="l"/>
                <a:tab pos="13471525" algn="l"/>
              </a:tabLst>
            </a:pPr>
            <a:r>
              <a:rPr sz="4200" b="1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42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2:</a:t>
            </a:r>
            <a:r>
              <a:rPr sz="4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link’s</a:t>
            </a:r>
            <a:r>
              <a:rPr sz="4200" spc="-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bandwidth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2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usage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are</a:t>
            </a:r>
            <a:r>
              <a:rPr sz="4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monitored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SFlow.</a:t>
            </a:r>
            <a:endParaRPr sz="4200">
              <a:latin typeface="Times New Roman" panose="02020603050405020304"/>
              <a:cs typeface="Times New Roman" panose="02020603050405020304"/>
            </a:endParaRPr>
          </a:p>
          <a:p>
            <a:pPr marL="198755" indent="-195580">
              <a:lnSpc>
                <a:spcPct val="100000"/>
              </a:lnSpc>
              <a:spcBef>
                <a:spcPts val="2520"/>
              </a:spcBef>
              <a:buSzPct val="98000"/>
              <a:buFont typeface="Times New Roman" panose="02020603050405020304"/>
              <a:buChar char="•"/>
              <a:tabLst>
                <a:tab pos="198755" algn="l"/>
                <a:tab pos="2999105" algn="l"/>
                <a:tab pos="9935845" algn="l"/>
              </a:tabLst>
            </a:pPr>
            <a:r>
              <a:rPr sz="4200" b="1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42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3:</a:t>
            </a:r>
            <a:r>
              <a:rPr sz="4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Cost</a:t>
            </a:r>
            <a:r>
              <a:rPr sz="4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4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Σ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(Reference</a:t>
            </a:r>
            <a:r>
              <a:rPr sz="4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Bandwidth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/</a:t>
            </a:r>
            <a:r>
              <a:rPr sz="4200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42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Bandwidth).</a:t>
            </a:r>
            <a:endParaRPr sz="4200">
              <a:latin typeface="Times New Roman" panose="02020603050405020304"/>
              <a:cs typeface="Times New Roman" panose="02020603050405020304"/>
            </a:endParaRPr>
          </a:p>
          <a:p>
            <a:pPr marL="198755" indent="-195580">
              <a:lnSpc>
                <a:spcPct val="100000"/>
              </a:lnSpc>
              <a:spcBef>
                <a:spcPts val="2520"/>
              </a:spcBef>
              <a:buSzPct val="98000"/>
              <a:buFont typeface="Times New Roman" panose="02020603050405020304"/>
              <a:buChar char="•"/>
              <a:tabLst>
                <a:tab pos="198755" algn="l"/>
              </a:tabLst>
            </a:pPr>
            <a:r>
              <a:rPr sz="4200" b="1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42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4:</a:t>
            </a:r>
            <a:r>
              <a:rPr sz="4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Controller</a:t>
            </a:r>
            <a:r>
              <a:rPr sz="4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selects</a:t>
            </a:r>
            <a:r>
              <a:rPr sz="4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4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42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lowest</a:t>
            </a:r>
            <a:r>
              <a:rPr sz="4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cost</a:t>
            </a:r>
            <a:r>
              <a:rPr sz="4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(least</a:t>
            </a:r>
            <a:r>
              <a:rPr sz="4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congested).</a:t>
            </a:r>
            <a:endParaRPr sz="4200">
              <a:latin typeface="Times New Roman" panose="02020603050405020304"/>
              <a:cs typeface="Times New Roman" panose="02020603050405020304"/>
            </a:endParaRPr>
          </a:p>
          <a:p>
            <a:pPr marL="198755" indent="-195580">
              <a:lnSpc>
                <a:spcPct val="100000"/>
              </a:lnSpc>
              <a:spcBef>
                <a:spcPts val="2520"/>
              </a:spcBef>
              <a:buSzPct val="98000"/>
              <a:buFont typeface="Times New Roman" panose="02020603050405020304"/>
              <a:buChar char="•"/>
              <a:tabLst>
                <a:tab pos="198755" algn="l"/>
                <a:tab pos="6257925" algn="l"/>
                <a:tab pos="9027160" algn="l"/>
                <a:tab pos="10316210" algn="l"/>
              </a:tabLst>
            </a:pPr>
            <a:r>
              <a:rPr sz="4200" b="1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42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5:</a:t>
            </a:r>
            <a:r>
              <a:rPr sz="42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Flow</a:t>
            </a:r>
            <a:r>
              <a:rPr sz="4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rules</a:t>
            </a:r>
            <a:r>
              <a:rPr sz="4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installed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45" dirty="0">
                <a:latin typeface="Times New Roman" panose="02020603050405020304"/>
                <a:cs typeface="Times New Roman" panose="02020603050405020304"/>
              </a:rPr>
              <a:t>Ryu’s</a:t>
            </a:r>
            <a:r>
              <a:rPr sz="4200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4200" spc="-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altLang="" sz="4200" spc="-250" dirty="0">
                <a:latin typeface="Times New Roman" panose="02020603050405020304"/>
                <a:cs typeface="Times New Roman" panose="02020603050405020304"/>
              </a:rPr>
              <a:t>Pr</a:t>
            </a:r>
            <a:r>
              <a:rPr sz="4200" spc="-10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lang="en-IN" altLang="" sz="4200" spc="-2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200" spc="-10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lang="en-IN" altLang="" sz="4200" spc="-25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4200" spc="-10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4200" dirty="0">
                <a:latin typeface="Times New Roman" panose="02020603050405020304"/>
                <a:cs typeface="Times New Roman" panose="02020603050405020304"/>
                <a:sym typeface="+mn-ea"/>
              </a:rPr>
              <a:t>l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.</a:t>
            </a:r>
            <a:endParaRPr sz="4200">
              <a:latin typeface="Times New Roman" panose="02020603050405020304"/>
              <a:cs typeface="Times New Roman" panose="02020603050405020304"/>
            </a:endParaRPr>
          </a:p>
          <a:p>
            <a:pPr marL="198755" indent="-195580">
              <a:lnSpc>
                <a:spcPct val="100000"/>
              </a:lnSpc>
              <a:spcBef>
                <a:spcPts val="2520"/>
              </a:spcBef>
              <a:buSzPct val="98000"/>
              <a:buFont typeface="Times New Roman" panose="02020603050405020304"/>
              <a:buChar char="•"/>
              <a:tabLst>
                <a:tab pos="198755" algn="l"/>
                <a:tab pos="9189720" algn="l"/>
                <a:tab pos="10478770" algn="l"/>
                <a:tab pos="12956540" algn="l"/>
              </a:tabLst>
            </a:pPr>
            <a:r>
              <a:rPr sz="4200" b="1" dirty="0">
                <a:latin typeface="Times New Roman" panose="02020603050405020304"/>
                <a:cs typeface="Times New Roman" panose="02020603050405020304"/>
              </a:rPr>
              <a:t>Step</a:t>
            </a:r>
            <a:r>
              <a:rPr sz="42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b="1" dirty="0">
                <a:latin typeface="Times New Roman" panose="02020603050405020304"/>
                <a:cs typeface="Times New Roman" panose="02020603050405020304"/>
              </a:rPr>
              <a:t>6:</a:t>
            </a:r>
            <a:r>
              <a:rPr sz="4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4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adjustments</a:t>
            </a:r>
            <a:r>
              <a:rPr sz="42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performed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traffic</a:t>
            </a:r>
            <a:r>
              <a:rPr sz="42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200" spc="-2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4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200" spc="-10" dirty="0">
                <a:latin typeface="Times New Roman" panose="02020603050405020304"/>
                <a:cs typeface="Times New Roman" panose="02020603050405020304"/>
              </a:rPr>
              <a:t>changes.</a:t>
            </a:r>
            <a:endParaRPr sz="4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2089" y="212724"/>
            <a:ext cx="1401445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441680" algn="l"/>
              </a:tabLst>
            </a:pPr>
            <a:r>
              <a:rPr sz="4400" spc="-10" dirty="0"/>
              <a:t>NETWORK</a:t>
            </a:r>
            <a:r>
              <a:rPr sz="4400" spc="-240" dirty="0"/>
              <a:t> </a:t>
            </a:r>
            <a:r>
              <a:rPr sz="4400" spc="-10" dirty="0"/>
              <a:t>ARCHITECTURE</a:t>
            </a:r>
            <a:r>
              <a:rPr sz="4400" spc="-225" dirty="0"/>
              <a:t> </a:t>
            </a:r>
            <a:r>
              <a:rPr sz="4400" dirty="0"/>
              <a:t>AND</a:t>
            </a:r>
            <a:r>
              <a:rPr sz="4400" spc="-50" dirty="0"/>
              <a:t> </a:t>
            </a:r>
            <a:r>
              <a:rPr lang="en-IN" sz="4400" spc="-195" dirty="0">
                <a:sym typeface="+mn-ea"/>
              </a:rPr>
              <a:t>WORK FLOW</a:t>
            </a:r>
            <a:r>
              <a:rPr sz="4400" dirty="0"/>
              <a:t>	</a:t>
            </a:r>
            <a:r>
              <a:rPr sz="4400" b="0" spc="-25" dirty="0">
                <a:latin typeface="Times New Roman" panose="02020603050405020304"/>
                <a:cs typeface="Times New Roman" panose="02020603050405020304"/>
              </a:rPr>
              <a:t>13</a:t>
            </a:r>
            <a:endParaRPr sz="4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9033" y="1747354"/>
            <a:ext cx="17486630" cy="6257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40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000" b="1" spc="-10" dirty="0">
                <a:latin typeface="Times New Roman" panose="02020603050405020304"/>
                <a:cs typeface="Times New Roman" panose="02020603050405020304"/>
              </a:rPr>
              <a:t>Overview:</a:t>
            </a: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4000">
              <a:latin typeface="Times New Roman" panose="02020603050405020304"/>
              <a:cs typeface="Times New Roman" panose="02020603050405020304"/>
            </a:endParaRPr>
          </a:p>
          <a:p>
            <a:pPr marL="172085" indent="-168275">
              <a:lnSpc>
                <a:spcPct val="100000"/>
              </a:lnSpc>
              <a:buSzPct val="97000"/>
              <a:buChar char="•"/>
              <a:tabLst>
                <a:tab pos="17208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built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3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3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Networking</a:t>
            </a:r>
            <a:r>
              <a:rPr sz="3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(SDN)</a:t>
            </a:r>
            <a:r>
              <a:rPr sz="3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framework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the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6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Controller</a:t>
            </a:r>
            <a:r>
              <a:rPr sz="36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6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centralized</a:t>
            </a:r>
            <a:r>
              <a:rPr sz="36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management.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 marR="309245" indent="-8890">
              <a:lnSpc>
                <a:spcPct val="100000"/>
              </a:lnSpc>
              <a:buSzPct val="97000"/>
              <a:buChar char="•"/>
              <a:tabLst>
                <a:tab pos="17208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SDN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separates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3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Plane</a:t>
            </a:r>
            <a:r>
              <a:rPr sz="3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Plane</a:t>
            </a:r>
            <a:r>
              <a:rPr sz="3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enabling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3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6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optimization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72085" indent="-168275">
              <a:lnSpc>
                <a:spcPct val="100000"/>
              </a:lnSpc>
              <a:buSzPct val="97000"/>
              <a:buChar char="•"/>
              <a:tabLst>
                <a:tab pos="172085" algn="l"/>
              </a:tabLst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has</a:t>
            </a:r>
            <a:r>
              <a:rPr sz="3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four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layers: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86385" indent="-273685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286385" algn="l"/>
              </a:tabLst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Application</a:t>
            </a:r>
            <a:r>
              <a:rPr sz="3600" b="1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Layer:</a:t>
            </a:r>
            <a:r>
              <a:rPr sz="3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load-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balancing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logic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86385" indent="-273685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286385" algn="l"/>
              </a:tabLst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36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Layer:</a:t>
            </a:r>
            <a:r>
              <a:rPr sz="3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installs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flow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rules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via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1.3.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86385" indent="-273685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286385" algn="l"/>
              </a:tabLst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Layer:</a:t>
            </a:r>
            <a:r>
              <a:rPr sz="36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Open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vSwitch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(OVS)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switches</a:t>
            </a:r>
            <a:r>
              <a:rPr sz="36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emulate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forwarding</a:t>
            </a:r>
            <a:r>
              <a:rPr sz="3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elements.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86385" indent="-273685">
              <a:lnSpc>
                <a:spcPct val="100000"/>
              </a:lnSpc>
              <a:buSzPct val="97000"/>
              <a:buFont typeface="Times New Roman" panose="02020603050405020304"/>
              <a:buChar char="•"/>
              <a:tabLst>
                <a:tab pos="286385" algn="l"/>
              </a:tabLst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Host</a:t>
            </a:r>
            <a:r>
              <a:rPr sz="3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Layer:</a:t>
            </a:r>
            <a:r>
              <a:rPr sz="36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End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devices</a:t>
            </a:r>
            <a:r>
              <a:rPr sz="3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generating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3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receiving</a:t>
            </a:r>
            <a:r>
              <a:rPr sz="36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traffic.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1486013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3340" y="215900"/>
            <a:ext cx="13368655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NETWORK</a:t>
            </a:r>
            <a:r>
              <a:rPr spc="-200" dirty="0"/>
              <a:t> </a:t>
            </a:r>
            <a:r>
              <a:rPr spc="-10" dirty="0"/>
              <a:t>ARCHITECTURE</a:t>
            </a:r>
            <a:r>
              <a:rPr spc="-195" dirty="0"/>
              <a:t> </a:t>
            </a:r>
            <a:r>
              <a:rPr lang="en-IN" spc="-195" dirty="0"/>
              <a:t>AND WORK FLOW</a:t>
            </a:r>
            <a:endParaRPr lang="en-IN" spc="-195" dirty="0"/>
          </a:p>
        </p:txBody>
      </p:sp>
      <p:sp>
        <p:nvSpPr>
          <p:cNvPr id="3" name="object 3"/>
          <p:cNvSpPr txBox="1"/>
          <p:nvPr/>
        </p:nvSpPr>
        <p:spPr>
          <a:xfrm>
            <a:off x="16400144" y="215900"/>
            <a:ext cx="5715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5" dirty="0">
                <a:latin typeface="Times New Roman" panose="02020603050405020304"/>
                <a:cs typeface="Times New Roman" panose="02020603050405020304"/>
              </a:rPr>
              <a:t>14</a:t>
            </a:r>
            <a:endParaRPr sz="4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0200" y="1866900"/>
            <a:ext cx="16134080" cy="502158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90"/>
              </a:spcBef>
            </a:pPr>
            <a:endParaRPr sz="3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800" b="1" spc="-10" dirty="0">
                <a:latin typeface="Times New Roman" panose="02020603050405020304"/>
                <a:cs typeface="Times New Roman" panose="02020603050405020304"/>
              </a:rPr>
              <a:t>Workflow:</a:t>
            </a:r>
            <a:endParaRPr sz="3800">
              <a:latin typeface="Times New Roman" panose="02020603050405020304"/>
              <a:cs typeface="Times New Roman" panose="02020603050405020304"/>
            </a:endParaRPr>
          </a:p>
          <a:p>
            <a:pPr marL="1039495" lvl="1" indent="-570230">
              <a:lnSpc>
                <a:spcPct val="100000"/>
              </a:lnSpc>
              <a:buFont typeface="Courier New" panose="02070309020205020404"/>
              <a:buChar char="o"/>
              <a:tabLst>
                <a:tab pos="1038860" algn="l"/>
              </a:tabLst>
            </a:pPr>
            <a:r>
              <a:rPr sz="3800" dirty="0">
                <a:latin typeface="Times New Roman" panose="02020603050405020304"/>
                <a:cs typeface="Times New Roman" panose="02020603050405020304"/>
              </a:rPr>
              <a:t>Controller</a:t>
            </a:r>
            <a:r>
              <a:rPr sz="3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discovers</a:t>
            </a:r>
            <a:r>
              <a:rPr sz="3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20" dirty="0">
                <a:latin typeface="Times New Roman" panose="02020603050405020304"/>
                <a:cs typeface="Times New Roman" panose="02020603050405020304"/>
              </a:rPr>
              <a:t>DFS.</a:t>
            </a:r>
            <a:endParaRPr sz="3800">
              <a:latin typeface="Times New Roman" panose="02020603050405020304"/>
              <a:cs typeface="Times New Roman" panose="02020603050405020304"/>
            </a:endParaRPr>
          </a:p>
          <a:p>
            <a:pPr marL="1039495" lvl="1" indent="-570230">
              <a:lnSpc>
                <a:spcPct val="100000"/>
              </a:lnSpc>
              <a:buFont typeface="Courier New" panose="02070309020205020404"/>
              <a:buChar char="o"/>
              <a:tabLst>
                <a:tab pos="1038860" algn="l"/>
              </a:tabLst>
            </a:pPr>
            <a:r>
              <a:rPr sz="3800" dirty="0">
                <a:latin typeface="Times New Roman" panose="02020603050405020304"/>
                <a:cs typeface="Times New Roman" panose="02020603050405020304"/>
              </a:rPr>
              <a:t>SFlow</a:t>
            </a:r>
            <a:r>
              <a:rPr sz="3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monitors</a:t>
            </a:r>
            <a:r>
              <a:rPr sz="3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bandwidth.</a:t>
            </a:r>
            <a:endParaRPr sz="3800">
              <a:latin typeface="Times New Roman" panose="02020603050405020304"/>
              <a:cs typeface="Times New Roman" panose="02020603050405020304"/>
            </a:endParaRPr>
          </a:p>
          <a:p>
            <a:pPr marL="1039495" lvl="1" indent="-570230">
              <a:lnSpc>
                <a:spcPct val="100000"/>
              </a:lnSpc>
              <a:buFont typeface="Courier New" panose="02070309020205020404"/>
              <a:buChar char="o"/>
              <a:tabLst>
                <a:tab pos="1038860" algn="l"/>
              </a:tabLst>
            </a:pP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Least-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congested</a:t>
            </a:r>
            <a:r>
              <a:rPr sz="3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3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selected</a:t>
            </a:r>
            <a:r>
              <a:rPr sz="3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bandwidth-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cost.</a:t>
            </a:r>
            <a:endParaRPr sz="3800">
              <a:latin typeface="Times New Roman" panose="02020603050405020304"/>
              <a:cs typeface="Times New Roman" panose="02020603050405020304"/>
            </a:endParaRPr>
          </a:p>
          <a:p>
            <a:pPr marL="1040130" marR="5080" lvl="1" indent="-570230">
              <a:lnSpc>
                <a:spcPct val="100000"/>
              </a:lnSpc>
              <a:buFont typeface="Courier New" panose="02070309020205020404"/>
              <a:buChar char="o"/>
              <a:tabLst>
                <a:tab pos="1041400" algn="l"/>
              </a:tabLst>
            </a:pPr>
            <a:r>
              <a:rPr sz="3800" dirty="0">
                <a:latin typeface="Times New Roman" panose="02020603050405020304"/>
                <a:cs typeface="Times New Roman" panose="02020603050405020304"/>
              </a:rPr>
              <a:t>OpenFlow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tables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distribute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load;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rerouting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occurs</a:t>
            </a:r>
            <a:r>
              <a:rPr sz="3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dirty="0"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3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00" spc="-10" dirty="0">
                <a:latin typeface="Times New Roman" panose="02020603050405020304"/>
                <a:cs typeface="Times New Roman" panose="02020603050405020304"/>
              </a:rPr>
              <a:t>during 	congestion.</a:t>
            </a:r>
            <a:endParaRPr sz="3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1486013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971" rIns="0" bIns="0" rtlCol="0">
            <a:spAutoFit/>
          </a:bodyPr>
          <a:lstStyle/>
          <a:p>
            <a:pPr marL="7620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SIMULATION</a:t>
            </a:r>
            <a:r>
              <a:rPr spc="-215" dirty="0"/>
              <a:t> </a:t>
            </a:r>
            <a:r>
              <a:rPr spc="-10" dirty="0"/>
              <a:t>ENVIRONMENT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349980" y="183515"/>
            <a:ext cx="5715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5" dirty="0">
                <a:latin typeface="Times New Roman" panose="02020603050405020304"/>
                <a:cs typeface="Times New Roman" panose="02020603050405020304"/>
              </a:rPr>
              <a:t>15</a:t>
            </a:r>
            <a:endParaRPr sz="43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09395" y="2035175"/>
          <a:ext cx="15221585" cy="6210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3250"/>
                <a:gridCol w="8268335"/>
              </a:tblGrid>
              <a:tr h="1035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b="1" spc="-10" dirty="0">
                          <a:latin typeface="Times New Roman" panose="02020603050405020304"/>
                          <a:cs typeface="Times New Roman" panose="02020603050405020304"/>
                        </a:rPr>
                        <a:t>Parameter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Configuration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5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Emulator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Mininet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5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Controller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dirty="0">
                          <a:latin typeface="Times New Roman" panose="02020603050405020304"/>
                          <a:cs typeface="Times New Roman" panose="02020603050405020304"/>
                        </a:rPr>
                        <a:t>Ryu</a:t>
                      </a:r>
                      <a:r>
                        <a:rPr sz="3600" spc="-10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(Python-based)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5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dirty="0">
                          <a:latin typeface="Times New Roman" panose="02020603050405020304"/>
                          <a:cs typeface="Times New Roman" panose="02020603050405020304"/>
                        </a:rPr>
                        <a:t>Communication</a:t>
                      </a:r>
                      <a:r>
                        <a:rPr sz="36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Protocol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dirty="0">
                          <a:latin typeface="Times New Roman" panose="02020603050405020304"/>
                          <a:cs typeface="Times New Roman" panose="02020603050405020304"/>
                        </a:rPr>
                        <a:t>OpenFlow</a:t>
                      </a:r>
                      <a:r>
                        <a:rPr sz="3600" spc="-7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3600" spc="-25" dirty="0">
                          <a:latin typeface="Times New Roman" panose="02020603050405020304"/>
                          <a:cs typeface="Times New Roman" panose="02020603050405020304"/>
                        </a:rPr>
                        <a:t>1.3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5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Monitoring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SFlow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5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3600" spc="-30" dirty="0">
                          <a:latin typeface="Times New Roman" panose="02020603050405020304"/>
                          <a:cs typeface="Times New Roman" panose="02020603050405020304"/>
                        </a:rPr>
                        <a:t>Traffic</a:t>
                      </a:r>
                      <a:r>
                        <a:rPr sz="3600" spc="-1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3600" spc="-20" dirty="0">
                          <a:latin typeface="Times New Roman" panose="02020603050405020304"/>
                          <a:cs typeface="Times New Roman" panose="02020603050405020304"/>
                        </a:rPr>
                        <a:t>Tool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6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sz="3600" spc="-10" dirty="0">
                          <a:latin typeface="Times New Roman" panose="02020603050405020304"/>
                          <a:cs typeface="Times New Roman" panose="02020603050405020304"/>
                        </a:rPr>
                        <a:t>Iperf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66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3415" y="67310"/>
            <a:ext cx="625729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RESULT</a:t>
            </a:r>
            <a:r>
              <a:rPr spc="-300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-40" dirty="0"/>
              <a:t>ANALYSIS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15788005" y="67310"/>
            <a:ext cx="5715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25" dirty="0">
                <a:latin typeface="Times New Roman" panose="02020603050405020304"/>
                <a:cs typeface="Times New Roman" panose="02020603050405020304"/>
              </a:rPr>
              <a:t>16</a:t>
            </a:r>
            <a:endParaRPr sz="4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48640" y="2910839"/>
            <a:ext cx="9326880" cy="37810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NETWORK</a:t>
            </a:r>
            <a:r>
              <a:rPr spc="-145" dirty="0"/>
              <a:t> </a:t>
            </a:r>
            <a:r>
              <a:rPr spc="-10" dirty="0"/>
              <a:t>TOPOLOGY</a:t>
            </a:r>
            <a:endParaRPr spc="-10" dirty="0"/>
          </a:p>
          <a:p>
            <a:pPr>
              <a:lnSpc>
                <a:spcPct val="100000"/>
              </a:lnSpc>
              <a:spcBef>
                <a:spcPts val="995"/>
              </a:spcBef>
            </a:pPr>
          </a:p>
          <a:p>
            <a:pPr marL="12700">
              <a:lnSpc>
                <a:spcPct val="100000"/>
              </a:lnSpc>
            </a:pPr>
            <a:r>
              <a:rPr spc="-10" dirty="0"/>
              <a:t>Overview:</a:t>
            </a:r>
            <a:endParaRPr spc="-10" dirty="0"/>
          </a:p>
          <a:p>
            <a:pPr marL="12700" marR="75565">
              <a:lnSpc>
                <a:spcPct val="100000"/>
              </a:lnSpc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topology</a:t>
            </a:r>
            <a:r>
              <a:rPr spc="-60" dirty="0"/>
              <a:t> </a:t>
            </a:r>
            <a:r>
              <a:rPr dirty="0"/>
              <a:t>consists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6</a:t>
            </a:r>
            <a:r>
              <a:rPr spc="-60" dirty="0"/>
              <a:t> </a:t>
            </a:r>
            <a:r>
              <a:rPr dirty="0"/>
              <a:t>interconnected</a:t>
            </a:r>
            <a:r>
              <a:rPr spc="-60" dirty="0"/>
              <a:t> </a:t>
            </a:r>
            <a:r>
              <a:rPr spc="-10" dirty="0"/>
              <a:t>switches (Switch1–Switch6)</a:t>
            </a:r>
            <a:r>
              <a:rPr spc="-5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2</a:t>
            </a:r>
            <a:r>
              <a:rPr spc="-40" dirty="0"/>
              <a:t> </a:t>
            </a:r>
            <a:r>
              <a:rPr dirty="0"/>
              <a:t>hosts</a:t>
            </a:r>
            <a:r>
              <a:rPr spc="-45" dirty="0"/>
              <a:t> </a:t>
            </a:r>
            <a:r>
              <a:rPr dirty="0"/>
              <a:t>(Host1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Host2).</a:t>
            </a:r>
            <a:endParaRPr spc="-10" dirty="0"/>
          </a:p>
          <a:p>
            <a:pPr>
              <a:lnSpc>
                <a:spcPct val="100000"/>
              </a:lnSpc>
              <a:spcBef>
                <a:spcPts val="140"/>
              </a:spcBef>
            </a:pPr>
          </a:p>
          <a:p>
            <a:pPr marL="12700" marR="5080">
              <a:lnSpc>
                <a:spcPct val="100000"/>
              </a:lnSpc>
            </a:pPr>
            <a:r>
              <a:rPr dirty="0"/>
              <a:t>Multiple</a:t>
            </a:r>
            <a:r>
              <a:rPr spc="-65" dirty="0"/>
              <a:t> </a:t>
            </a:r>
            <a:r>
              <a:rPr dirty="0"/>
              <a:t>redundant</a:t>
            </a:r>
            <a:r>
              <a:rPr spc="-70" dirty="0"/>
              <a:t> </a:t>
            </a:r>
            <a:r>
              <a:rPr dirty="0"/>
              <a:t>paths</a:t>
            </a:r>
            <a:r>
              <a:rPr spc="-60" dirty="0"/>
              <a:t> </a:t>
            </a:r>
            <a:r>
              <a:rPr dirty="0"/>
              <a:t>exist</a:t>
            </a:r>
            <a:r>
              <a:rPr spc="-70" dirty="0"/>
              <a:t> </a:t>
            </a:r>
            <a:r>
              <a:rPr dirty="0"/>
              <a:t>between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source </a:t>
            </a:r>
            <a:r>
              <a:rPr dirty="0"/>
              <a:t>(10.0.0.1)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destination</a:t>
            </a:r>
            <a:r>
              <a:rPr spc="-85" dirty="0"/>
              <a:t> </a:t>
            </a:r>
            <a:r>
              <a:rPr spc="-10" dirty="0"/>
              <a:t>(10.0.0.2).</a:t>
            </a:r>
            <a:endParaRPr spc="-10" dirty="0"/>
          </a:p>
          <a:p>
            <a:pPr>
              <a:lnSpc>
                <a:spcPct val="100000"/>
              </a:lnSpc>
              <a:spcBef>
                <a:spcPts val="140"/>
              </a:spcBef>
            </a:pPr>
          </a:p>
          <a:p>
            <a:pPr marL="12700" marR="107950">
              <a:lnSpc>
                <a:spcPct val="100000"/>
              </a:lnSpc>
            </a:pPr>
            <a:r>
              <a:rPr dirty="0"/>
              <a:t>Implemented</a:t>
            </a:r>
            <a:r>
              <a:rPr spc="-5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spc="-25" dirty="0"/>
              <a:t>Software-</a:t>
            </a:r>
            <a:r>
              <a:rPr dirty="0"/>
              <a:t>Defined</a:t>
            </a:r>
            <a:r>
              <a:rPr spc="-55" dirty="0"/>
              <a:t> </a:t>
            </a:r>
            <a:r>
              <a:rPr spc="-10" dirty="0"/>
              <a:t>Networking </a:t>
            </a:r>
            <a:r>
              <a:rPr dirty="0"/>
              <a:t>(SDN)</a:t>
            </a:r>
            <a:r>
              <a:rPr spc="-85" dirty="0"/>
              <a:t> </a:t>
            </a:r>
            <a:r>
              <a:rPr dirty="0"/>
              <a:t>with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RYU</a:t>
            </a:r>
            <a:r>
              <a:rPr spc="-80" dirty="0"/>
              <a:t> </a:t>
            </a:r>
            <a:r>
              <a:rPr dirty="0"/>
              <a:t>controller</a:t>
            </a:r>
            <a:r>
              <a:rPr spc="-12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spc="-10" dirty="0"/>
              <a:t>centralized </a:t>
            </a:r>
            <a:r>
              <a:rPr dirty="0"/>
              <a:t>network</a:t>
            </a:r>
            <a:r>
              <a:rPr spc="-80" dirty="0"/>
              <a:t> </a:t>
            </a:r>
            <a:r>
              <a:rPr spc="-10" dirty="0"/>
              <a:t>control.</a:t>
            </a: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14325" y="1404619"/>
          <a:ext cx="17724120" cy="769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09745"/>
                <a:gridCol w="4309745"/>
                <a:gridCol w="4309745"/>
                <a:gridCol w="4705985"/>
              </a:tblGrid>
              <a:tr h="56832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000" b="1" spc="-10" dirty="0">
                          <a:latin typeface="Times New Roman" panose="02020603050405020304"/>
                          <a:cs typeface="Times New Roman" panose="02020603050405020304"/>
                        </a:rPr>
                        <a:t>Test/Action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000" b="1" spc="-10" dirty="0">
                          <a:latin typeface="Times New Roman" panose="02020603050405020304"/>
                          <a:cs typeface="Times New Roman" panose="02020603050405020304"/>
                        </a:rPr>
                        <a:t>Details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Observed</a:t>
                      </a:r>
                      <a:r>
                        <a:rPr sz="2000" b="1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Data</a:t>
                      </a:r>
                      <a:r>
                        <a:rPr sz="2000" b="1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2000" b="1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spc="-10" dirty="0">
                          <a:latin typeface="Times New Roman" panose="02020603050405020304"/>
                          <a:cs typeface="Times New Roman" panose="02020603050405020304"/>
                        </a:rPr>
                        <a:t>Values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2000" b="1" spc="-10" dirty="0">
                          <a:latin typeface="Times New Roman" panose="02020603050405020304"/>
                          <a:cs typeface="Times New Roman" panose="02020603050405020304"/>
                        </a:rPr>
                        <a:t>Conclusions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162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05"/>
                        </a:spcBef>
                      </a:pP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Topology</a:t>
                      </a:r>
                      <a:r>
                        <a:rPr sz="2000" spc="-1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Setup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00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6286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Network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hosts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(h1,h2),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switches (s1-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s6)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connected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with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multiple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paths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0066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Total</a:t>
                      </a:r>
                      <a:r>
                        <a:rPr sz="20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switches:</a:t>
                      </a:r>
                      <a:r>
                        <a:rPr sz="20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r>
                        <a:rPr sz="20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Links:</a:t>
                      </a:r>
                      <a:r>
                        <a:rPr sz="20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Multiple</a:t>
                      </a:r>
                      <a:r>
                        <a:rPr sz="20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cross-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links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forming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redundant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routes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96837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Supports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multipath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routing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load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balancing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789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1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Ping</a:t>
                      </a:r>
                      <a:r>
                        <a:rPr sz="2000" spc="-9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Test</a:t>
                      </a:r>
                      <a:r>
                        <a:rPr sz="20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(pingall)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1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6350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Verifies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basic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connectivity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reliability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between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all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nodes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7874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0%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packet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loss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(all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hosts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reachable)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RTT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avg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~0.1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ms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88201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Network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stable,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packet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loss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under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multipath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topology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6619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Flow</a:t>
                      </a:r>
                      <a:r>
                        <a:rPr sz="2000" spc="-114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Table</a:t>
                      </a:r>
                      <a:r>
                        <a:rPr sz="200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Inspection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0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21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Check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flows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key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switches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(s1,s3,s5)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0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4083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Flows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use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group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tables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Distributed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IP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000" spc="-1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ARP</a:t>
                      </a:r>
                      <a:r>
                        <a:rPr sz="2000" spc="-114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flows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on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multiple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paths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781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Multipath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load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balancing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implemented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using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group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tables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598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0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Port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Statistics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(s1,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s3,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s5)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00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3337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Traffic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counts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per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port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to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confirm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load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distribution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8481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Packet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counts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range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~20–315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per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port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Diverse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rx/tx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values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across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ports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96202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Traffic</a:t>
                      </a:r>
                      <a:r>
                        <a:rPr sz="20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distributed</a:t>
                      </a:r>
                      <a:r>
                        <a:rPr sz="20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dynamically</a:t>
                      </a:r>
                      <a:r>
                        <a:rPr sz="20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over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multiple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links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725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221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iperf</a:t>
                      </a:r>
                      <a:r>
                        <a:rPr sz="20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Bandwidth</a:t>
                      </a:r>
                      <a:r>
                        <a:rPr sz="2000" spc="-7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Tests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1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22999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TCP</a:t>
                      </a:r>
                      <a:r>
                        <a:rPr sz="2000" spc="-1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bandwidth</a:t>
                      </a:r>
                      <a:r>
                        <a:rPr sz="20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measurement betweenh1andh2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21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Throughput:</a:t>
                      </a:r>
                      <a:r>
                        <a:rPr sz="2000" spc="-5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16.8–25.2</a:t>
                      </a:r>
                      <a:r>
                        <a:rPr sz="2000" spc="-5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Gbits/sec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81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78359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High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throughput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achieved,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surpassing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typical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single</a:t>
                      </a:r>
                      <a:r>
                        <a:rPr sz="20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path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capacity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128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Link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Failure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Simulation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3182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Disabled</a:t>
                      </a:r>
                      <a:r>
                        <a:rPr sz="20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links1-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s3and</a:t>
                      </a:r>
                      <a:r>
                        <a:rPr sz="2000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tested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connectivity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throughput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7480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No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packet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loss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during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failure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iperf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bandwidth</a:t>
                      </a:r>
                      <a:r>
                        <a:rPr sz="20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sustained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71310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Controller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dynamically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reroutes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traffic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without</a:t>
                      </a:r>
                      <a:r>
                        <a:rPr sz="20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disruption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Recovery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Stability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Link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restored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network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tested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again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6004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Normal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flow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resumed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Stable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50" dirty="0">
                          <a:latin typeface="Times New Roman" panose="02020603050405020304"/>
                          <a:cs typeface="Times New Roman" panose="02020603050405020304"/>
                        </a:rPr>
                        <a:t>RTT</a:t>
                      </a:r>
                      <a:r>
                        <a:rPr sz="2000" spc="-6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and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packet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delivery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91122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Fast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recovery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resilient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multipath network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94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Costs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&amp;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Path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Calculations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134620">
                        <a:lnSpc>
                          <a:spcPct val="100000"/>
                        </a:lnSpc>
                        <a:spcBef>
                          <a:spcPts val="179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Controller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identified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multiple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paths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with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associated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costs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bucket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weights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2732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49212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Example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paths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between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→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with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costs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and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Bucket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weights</a:t>
                      </a:r>
                      <a:r>
                        <a:rPr sz="20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used</a:t>
                      </a:r>
                      <a:r>
                        <a:rPr sz="2000" spc="-2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25" dirty="0">
                          <a:latin typeface="Times New Roman" panose="02020603050405020304"/>
                          <a:cs typeface="Times New Roman" panose="02020603050405020304"/>
                        </a:rPr>
                        <a:t>in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flow</a:t>
                      </a:r>
                      <a:r>
                        <a:rPr sz="2000" spc="-3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groups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535305">
                        <a:lnSpc>
                          <a:spcPct val="100000"/>
                        </a:lnSpc>
                        <a:spcBef>
                          <a:spcPts val="1790"/>
                        </a:spcBef>
                      </a:pP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Cost-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based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path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selection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balances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 load,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optimizes</a:t>
                      </a:r>
                      <a:r>
                        <a:rPr sz="20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dirty="0">
                          <a:latin typeface="Times New Roman" panose="02020603050405020304"/>
                          <a:cs typeface="Times New Roman" panose="02020603050405020304"/>
                        </a:rPr>
                        <a:t>traffic</a:t>
                      </a:r>
                      <a:r>
                        <a:rPr sz="2000" spc="-3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spc="-10" dirty="0">
                          <a:latin typeface="Times New Roman" panose="02020603050405020304"/>
                          <a:cs typeface="Times New Roman" panose="02020603050405020304"/>
                        </a:rPr>
                        <a:t>routes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2732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94834" y="272415"/>
            <a:ext cx="831786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09975" algn="l"/>
              </a:tabLst>
            </a:pPr>
            <a:r>
              <a:rPr sz="4000" dirty="0"/>
              <a:t>Result</a:t>
            </a:r>
            <a:r>
              <a:rPr sz="4000" spc="-114" dirty="0"/>
              <a:t> </a:t>
            </a:r>
            <a:r>
              <a:rPr sz="4000" spc="-10" dirty="0"/>
              <a:t>Analysis</a:t>
            </a:r>
            <a:r>
              <a:rPr sz="4000" dirty="0"/>
              <a:t>	in</a:t>
            </a:r>
            <a:r>
              <a:rPr sz="4000" spc="-105" dirty="0"/>
              <a:t> </a:t>
            </a:r>
            <a:r>
              <a:rPr sz="4000" spc="-25" dirty="0"/>
              <a:t>Mininet-</a:t>
            </a:r>
            <a:r>
              <a:rPr sz="4000" dirty="0"/>
              <a:t>Ryu</a:t>
            </a:r>
            <a:r>
              <a:rPr sz="4000" spc="-105" dirty="0"/>
              <a:t> </a:t>
            </a:r>
            <a:r>
              <a:rPr sz="4000" spc="-10" dirty="0"/>
              <a:t>Setup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6243300" y="272415"/>
            <a:ext cx="53340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latin typeface="Times New Roman" panose="02020603050405020304"/>
                <a:cs typeface="Times New Roman" panose="02020603050405020304"/>
              </a:rPr>
              <a:t>17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6020" y="133349"/>
            <a:ext cx="9435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AD</a:t>
            </a:r>
            <a:r>
              <a:rPr sz="4400" spc="-585" dirty="0"/>
              <a:t>V</a:t>
            </a:r>
            <a:r>
              <a:rPr sz="4400" spc="-15" dirty="0"/>
              <a:t>AN</a:t>
            </a:r>
            <a:r>
              <a:rPr sz="4400" spc="-345" dirty="0"/>
              <a:t>T</a:t>
            </a:r>
            <a:r>
              <a:rPr sz="4400" spc="-15" dirty="0"/>
              <a:t>A</a:t>
            </a:r>
            <a:r>
              <a:rPr sz="4400" spc="-20" dirty="0"/>
              <a:t>G</a:t>
            </a:r>
            <a:r>
              <a:rPr sz="4400" spc="-15" dirty="0"/>
              <a:t>E</a:t>
            </a:r>
            <a:r>
              <a:rPr sz="4400" spc="-10" dirty="0"/>
              <a:t>S</a:t>
            </a:r>
            <a:r>
              <a:rPr sz="4400" spc="-235" dirty="0"/>
              <a:t> </a:t>
            </a:r>
            <a:r>
              <a:rPr sz="4400" dirty="0"/>
              <a:t>AND</a:t>
            </a:r>
            <a:r>
              <a:rPr sz="4400" spc="-215" dirty="0"/>
              <a:t> </a:t>
            </a:r>
            <a:r>
              <a:rPr sz="4400" spc="-20" dirty="0"/>
              <a:t>APPLICATIONS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6694150" y="185419"/>
            <a:ext cx="53340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latin typeface="Times New Roman" panose="02020603050405020304"/>
                <a:cs typeface="Times New Roman" panose="02020603050405020304"/>
              </a:rPr>
              <a:t>18</a:t>
            </a:r>
            <a:endParaRPr sz="4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6906" y="781605"/>
            <a:ext cx="11511915" cy="8271509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Advantages: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85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bandwidth</a:t>
            </a:r>
            <a:r>
              <a:rPr sz="32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utilization</a:t>
            </a:r>
            <a:r>
              <a:rPr sz="3200" b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adaptive</a:t>
            </a:r>
            <a:r>
              <a:rPr sz="32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routing.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20"/>
              </a:spcBef>
              <a:buSzPct val="97000"/>
              <a:buChar char="•"/>
              <a:tabLst>
                <a:tab pos="154305" algn="l"/>
              </a:tabLst>
            </a:pPr>
            <a:r>
              <a:rPr sz="3200" spc="-2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200" b="1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redistribution</a:t>
            </a:r>
            <a:r>
              <a:rPr sz="32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congestion.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20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Lower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latency,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30" dirty="0">
                <a:latin typeface="Times New Roman" panose="02020603050405020304"/>
                <a:cs typeface="Times New Roman" panose="02020603050405020304"/>
              </a:rPr>
              <a:t>jitter,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packet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loss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20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Increased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2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dirty="0">
                <a:latin typeface="Times New Roman" panose="02020603050405020304"/>
                <a:cs typeface="Times New Roman" panose="02020603050405020304"/>
              </a:rPr>
              <a:t>reliability</a:t>
            </a:r>
            <a:r>
              <a:rPr sz="3200" b="1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b="1" spc="-10" dirty="0">
                <a:latin typeface="Times New Roman" panose="02020603050405020304"/>
                <a:cs typeface="Times New Roman" panose="02020603050405020304"/>
              </a:rPr>
              <a:t>throughput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20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Scalable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programmable</a:t>
            </a:r>
            <a:r>
              <a:rPr sz="32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through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2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Controller.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090"/>
              </a:spcBef>
            </a:pP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Applications: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85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Centers: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Balancing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32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traffic.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25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5G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Networks: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Low-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latency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core</a:t>
            </a:r>
            <a:r>
              <a:rPr sz="3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routing.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15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IoT</a:t>
            </a:r>
            <a:r>
              <a:rPr sz="32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Systems: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Managing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sensor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traffic.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54305" indent="-151130">
              <a:lnSpc>
                <a:spcPct val="100000"/>
              </a:lnSpc>
              <a:spcBef>
                <a:spcPts val="1920"/>
              </a:spcBef>
              <a:buSzPct val="97000"/>
              <a:buChar char="•"/>
              <a:tabLst>
                <a:tab pos="154305" algn="l"/>
              </a:tabLst>
            </a:pPr>
            <a:r>
              <a:rPr sz="3200" dirty="0">
                <a:latin typeface="Times New Roman" panose="02020603050405020304"/>
                <a:cs typeface="Times New Roman" panose="02020603050405020304"/>
              </a:rPr>
              <a:t>Cloud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Edge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Computing: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2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sharing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between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dirty="0">
                <a:latin typeface="Times New Roman" panose="02020603050405020304"/>
                <a:cs typeface="Times New Roman" panose="02020603050405020304"/>
              </a:rPr>
              <a:t>virtualized</a:t>
            </a:r>
            <a:r>
              <a:rPr sz="32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nodes.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33234" y="89535"/>
            <a:ext cx="7954009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94575" algn="l"/>
              </a:tabLst>
            </a:pPr>
            <a:r>
              <a:rPr spc="-10" dirty="0"/>
              <a:t>CONCLUSION</a:t>
            </a:r>
            <a:r>
              <a:rPr dirty="0"/>
              <a:t>	</a:t>
            </a:r>
            <a:r>
              <a:rPr b="0" spc="-25" dirty="0">
                <a:latin typeface="Times New Roman" panose="02020603050405020304"/>
                <a:cs typeface="Times New Roman" panose="02020603050405020304"/>
              </a:rPr>
              <a:t>19</a:t>
            </a:r>
            <a:endParaRPr b="0" spc="-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7939" y="1404619"/>
            <a:ext cx="15883255" cy="627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34620" indent="-342900">
              <a:lnSpc>
                <a:spcPct val="120000"/>
              </a:lnSpc>
              <a:spcBef>
                <a:spcPts val="100"/>
              </a:spcBef>
              <a:buClr>
                <a:srgbClr val="415487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aims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Multipath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Balancing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Defined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Networking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(SDN)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controller.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354965" marR="5080" indent="-342900">
              <a:lnSpc>
                <a:spcPct val="120000"/>
              </a:lnSpc>
              <a:spcBef>
                <a:spcPts val="1500"/>
              </a:spcBef>
              <a:buClr>
                <a:srgbClr val="415487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main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objective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improve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distributing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traffic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dynamically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across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multiple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rather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than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relying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single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path.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354965" marR="124460" indent="-342900">
              <a:lnSpc>
                <a:spcPct val="120000"/>
              </a:lnSpc>
              <a:spcBef>
                <a:spcPts val="1500"/>
              </a:spcBef>
              <a:buClr>
                <a:srgbClr val="415487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bandwidth-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selection,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where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controller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continuously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monitors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20" dirty="0">
                <a:latin typeface="Times New Roman" panose="02020603050405020304"/>
                <a:cs typeface="Times New Roman" panose="02020603050405020304"/>
              </a:rPr>
              <a:t>link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usage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selects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maximum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available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bandwidth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avoid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congestion.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354965" marR="457835" indent="-342900">
              <a:lnSpc>
                <a:spcPct val="120000"/>
              </a:lnSpc>
              <a:spcBef>
                <a:spcPts val="1500"/>
              </a:spcBef>
              <a:buClr>
                <a:srgbClr val="415487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Mininet,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Ryu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controller,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OpenFlow,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plan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simulate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analyze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2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mechanism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compared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traditional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single-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3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routing.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354965" marR="1327785" indent="-342900">
              <a:lnSpc>
                <a:spcPct val="120000"/>
              </a:lnSpc>
              <a:spcBef>
                <a:spcPts val="1500"/>
              </a:spcBef>
              <a:buClr>
                <a:srgbClr val="415487"/>
              </a:buClr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3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expected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achieve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better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resource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utilization,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reduced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20" dirty="0">
                <a:latin typeface="Times New Roman" panose="02020603050405020304"/>
                <a:cs typeface="Times New Roman" panose="02020603050405020304"/>
              </a:rPr>
              <a:t>delay,</a:t>
            </a:r>
            <a:r>
              <a:rPr sz="3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improved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reliability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SDN-</a:t>
            </a:r>
            <a:r>
              <a:rPr sz="30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3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spc="-10" dirty="0">
                <a:latin typeface="Times New Roman" panose="02020603050405020304"/>
                <a:cs typeface="Times New Roman" panose="02020603050405020304"/>
              </a:rPr>
              <a:t>networks.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9600" y="186055"/>
            <a:ext cx="78822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82815" algn="l"/>
              </a:tabLst>
            </a:pPr>
            <a:r>
              <a:rPr sz="4800" spc="-10" dirty="0"/>
              <a:t>REFERENCES</a:t>
            </a:r>
            <a:r>
              <a:rPr sz="4800" dirty="0"/>
              <a:t>	</a:t>
            </a:r>
            <a:r>
              <a:rPr sz="4800" b="0" spc="-75" dirty="0">
                <a:latin typeface="Times New Roman" panose="02020603050405020304"/>
                <a:cs typeface="Times New Roman" panose="02020603050405020304"/>
              </a:rPr>
              <a:t>20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2739" y="1667510"/>
            <a:ext cx="15314294" cy="726503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1505585" indent="-6985">
              <a:lnSpc>
                <a:spcPts val="3250"/>
              </a:lnSpc>
              <a:spcBef>
                <a:spcPts val="295"/>
              </a:spcBef>
              <a:buSzPct val="95000"/>
              <a:buFont typeface="Tahoma" panose="020B0604030504040204"/>
              <a:buAutoNum type="arabicPlain"/>
              <a:tabLst>
                <a:tab pos="537210" algn="l"/>
              </a:tabLst>
            </a:pPr>
            <a:r>
              <a:rPr sz="2800" dirty="0">
                <a:latin typeface="Arial MT"/>
                <a:cs typeface="Arial MT"/>
              </a:rPr>
              <a:t>M.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Nkosi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and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A.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Lysko,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“Multi-</a:t>
            </a:r>
            <a:r>
              <a:rPr sz="2800" dirty="0">
                <a:latin typeface="Arial MT"/>
                <a:cs typeface="Arial MT"/>
              </a:rPr>
              <a:t>path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Load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Balancing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SDN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Plane,”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Proc.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35" dirty="0">
                <a:latin typeface="Arial MT"/>
                <a:cs typeface="Arial MT"/>
              </a:rPr>
              <a:t>of </a:t>
            </a:r>
            <a:r>
              <a:rPr sz="2800" dirty="0">
                <a:latin typeface="Arial MT"/>
                <a:cs typeface="Arial MT"/>
              </a:rPr>
              <a:t>International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Conference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Advanced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Network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Architectures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Protocols,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Dec.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2023.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lain"/>
            </a:pPr>
            <a:endParaRPr sz="2800">
              <a:latin typeface="Arial MT"/>
              <a:cs typeface="Arial MT"/>
            </a:endParaRPr>
          </a:p>
          <a:p>
            <a:pPr marL="12700" marR="5080" indent="531495">
              <a:lnSpc>
                <a:spcPct val="100000"/>
              </a:lnSpc>
              <a:buFont typeface="Arial" panose="020B0604020202020204"/>
              <a:buAutoNum type="arabicPlain"/>
              <a:tabLst>
                <a:tab pos="544195" algn="l"/>
              </a:tabLst>
            </a:pPr>
            <a:r>
              <a:rPr sz="2800" dirty="0">
                <a:latin typeface="Arial MT"/>
                <a:cs typeface="Arial MT"/>
              </a:rPr>
              <a:t>D.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H.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Liu,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Y.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Jin,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“MPF-</a:t>
            </a:r>
            <a:r>
              <a:rPr sz="2800" dirty="0">
                <a:latin typeface="Arial MT"/>
                <a:cs typeface="Arial MT"/>
              </a:rPr>
              <a:t>MLBS: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Multi-</a:t>
            </a:r>
            <a:r>
              <a:rPr sz="2800" dirty="0">
                <a:latin typeface="Arial MT"/>
                <a:cs typeface="Arial MT"/>
              </a:rPr>
              <a:t>path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Load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Balancing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Strategy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SDN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Networks </a:t>
            </a:r>
            <a:r>
              <a:rPr sz="2800" dirty="0">
                <a:latin typeface="Arial MT"/>
                <a:cs typeface="Arial MT"/>
              </a:rPr>
              <a:t>Based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Multiple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Performance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Factors,”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Journal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Mathematics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Science,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vol.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20,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Arial MT"/>
                <a:cs typeface="Arial MT"/>
              </a:rPr>
              <a:t>pp.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45–56,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2020.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 MT"/>
              <a:cs typeface="Arial MT"/>
            </a:endParaRPr>
          </a:p>
          <a:p>
            <a:pPr marL="12700" marR="870585" indent="531495">
              <a:lnSpc>
                <a:spcPct val="100000"/>
              </a:lnSpc>
              <a:buFont typeface="Arial" panose="020B0604020202020204"/>
              <a:buAutoNum type="arabicPlain" startAt="3"/>
              <a:tabLst>
                <a:tab pos="544195" algn="l"/>
              </a:tabLst>
            </a:pPr>
            <a:r>
              <a:rPr sz="2800" dirty="0">
                <a:latin typeface="Arial MT"/>
                <a:cs typeface="Arial MT"/>
              </a:rPr>
              <a:t>M.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Barakabitze,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Z.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Sun,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I.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Mkwawa,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E.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Ifeachor,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“QoE-</a:t>
            </a:r>
            <a:r>
              <a:rPr sz="2800" dirty="0">
                <a:latin typeface="Arial MT"/>
                <a:cs typeface="Arial MT"/>
              </a:rPr>
              <a:t>Centric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SDN-</a:t>
            </a:r>
            <a:r>
              <a:rPr sz="2800" dirty="0">
                <a:latin typeface="Arial MT"/>
                <a:cs typeface="Arial MT"/>
              </a:rPr>
              <a:t>Based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Multipath Routing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Approach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Multimedia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Services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5G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Networks,”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i="1" dirty="0">
                <a:latin typeface="Arial" panose="020B0604020202020204"/>
                <a:cs typeface="Arial" panose="020B0604020202020204"/>
              </a:rPr>
              <a:t>IEEE</a:t>
            </a:r>
            <a:r>
              <a:rPr sz="2800" i="1" spc="-155" dirty="0">
                <a:latin typeface="Arial" panose="020B0604020202020204"/>
                <a:cs typeface="Arial" panose="020B0604020202020204"/>
              </a:rPr>
              <a:t> </a:t>
            </a:r>
            <a:r>
              <a:rPr sz="2800" i="1" dirty="0">
                <a:latin typeface="Arial" panose="020B0604020202020204"/>
                <a:cs typeface="Arial" panose="020B0604020202020204"/>
              </a:rPr>
              <a:t>Access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vol.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6,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pp. </a:t>
            </a:r>
            <a:r>
              <a:rPr sz="2800" dirty="0">
                <a:latin typeface="Arial MT"/>
                <a:cs typeface="Arial MT"/>
              </a:rPr>
              <a:t>49537–49555,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2018.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" panose="020B0604020202020204"/>
              <a:buAutoNum type="arabicPlain" startAt="3"/>
            </a:pPr>
            <a:endParaRPr sz="2800">
              <a:latin typeface="Arial MT"/>
              <a:cs typeface="Arial MT"/>
            </a:endParaRPr>
          </a:p>
          <a:p>
            <a:pPr marL="12700" marR="267970" indent="531495">
              <a:lnSpc>
                <a:spcPct val="100000"/>
              </a:lnSpc>
              <a:buFont typeface="Arial" panose="020B0604020202020204"/>
              <a:buAutoNum type="arabicPlain" startAt="3"/>
              <a:tabLst>
                <a:tab pos="544195" algn="l"/>
              </a:tabLst>
            </a:pPr>
            <a:r>
              <a:rPr sz="2800" dirty="0">
                <a:latin typeface="Arial MT"/>
                <a:cs typeface="Arial MT"/>
              </a:rPr>
              <a:t>S.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Zannettou,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M.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Sirivianos,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40" dirty="0">
                <a:latin typeface="Arial MT"/>
                <a:cs typeface="Arial MT"/>
              </a:rPr>
              <a:t>F.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Papadopoulos,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“Exploiting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Path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Diversity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Datacenters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MPTCP-</a:t>
            </a:r>
            <a:r>
              <a:rPr sz="2800" dirty="0">
                <a:latin typeface="Arial MT"/>
                <a:cs typeface="Arial MT"/>
              </a:rPr>
              <a:t>Aware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SDN,”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Proc.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IEEE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Conference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Network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Service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Management </a:t>
            </a:r>
            <a:r>
              <a:rPr sz="2800" dirty="0">
                <a:latin typeface="Arial MT"/>
                <a:cs typeface="Arial MT"/>
              </a:rPr>
              <a:t>(CNSM),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2015,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pp.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67–74.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Arial" panose="020B0604020202020204"/>
              <a:buAutoNum type="arabicPlain" startAt="3"/>
            </a:pPr>
            <a:endParaRPr sz="2800">
              <a:latin typeface="Arial MT"/>
              <a:cs typeface="Arial MT"/>
            </a:endParaRPr>
          </a:p>
          <a:p>
            <a:pPr marL="12700" marR="268605" indent="531495">
              <a:lnSpc>
                <a:spcPct val="100000"/>
              </a:lnSpc>
              <a:buFont typeface="Arial" panose="020B0604020202020204"/>
              <a:buAutoNum type="arabicPlain" startAt="3"/>
              <a:tabLst>
                <a:tab pos="544195" algn="l"/>
              </a:tabLst>
            </a:pPr>
            <a:r>
              <a:rPr sz="2800" dirty="0">
                <a:latin typeface="Arial MT"/>
                <a:cs typeface="Arial MT"/>
              </a:rPr>
              <a:t>O.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Ri,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Y.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Kim,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Y.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Jong,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“Hybrid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Load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Balancing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Method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Failover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Capability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Server </a:t>
            </a:r>
            <a:r>
              <a:rPr sz="2800" dirty="0">
                <a:latin typeface="Arial MT"/>
                <a:cs typeface="Arial MT"/>
              </a:rPr>
              <a:t>Cluster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SDN,”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arXiv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preprint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arXiv:2307.05552,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2023.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07735" y="4113276"/>
            <a:ext cx="7156704" cy="20330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310*551"/>
  <p:tag name="TABLE_ENDDRAG_RECT" val="61*105*1310*551"/>
</p:tagLst>
</file>

<file path=ppt/tags/tag2.xml><?xml version="1.0" encoding="utf-8"?>
<p:tagLst xmlns:p="http://schemas.openxmlformats.org/presentationml/2006/main">
  <p:tag name="TABLE_ENDDRAG_ORIGIN_RECT" val="1381*619"/>
  <p:tag name="TABLE_ENDDRAG_RECT" val="26*92*1381*619"/>
</p:tagLst>
</file>

<file path=ppt/tags/tag3.xml><?xml version="1.0" encoding="utf-8"?>
<p:tagLst xmlns:p="http://schemas.openxmlformats.org/presentationml/2006/main">
  <p:tag name="TABLE_ENDDRAG_ORIGIN_RECT" val="1198*488"/>
  <p:tag name="TABLE_ENDDRAG_RECT" val="118*160*1198*48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11510</Words>
  <Application>WPS Presentation</Application>
  <PresentationFormat>On-screen Show (4:3)</PresentationFormat>
  <Paragraphs>395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SimSun</vt:lpstr>
      <vt:lpstr>Wingdings</vt:lpstr>
      <vt:lpstr>Times New Roman</vt:lpstr>
      <vt:lpstr>Trebuchet MS</vt:lpstr>
      <vt:lpstr>Arial MT</vt:lpstr>
      <vt:lpstr>Verdana</vt:lpstr>
      <vt:lpstr>Wingdings</vt:lpstr>
      <vt:lpstr>Microsoft YaHei</vt:lpstr>
      <vt:lpstr>Arial Unicode MS</vt:lpstr>
      <vt:lpstr>Calibri</vt:lpstr>
      <vt:lpstr>Courier New</vt:lpstr>
      <vt:lpstr>Tahoma</vt:lpstr>
      <vt:lpstr>Arial</vt:lpstr>
      <vt:lpstr>Times New Roman</vt:lpstr>
      <vt:lpstr>Office Theme</vt:lpstr>
      <vt:lpstr>1</vt:lpstr>
      <vt:lpstr>CONTENTS</vt:lpstr>
      <vt:lpstr>INTRODUCTION</vt:lpstr>
      <vt:lpstr>PROBLEM STATEMENT</vt:lpstr>
      <vt:lpstr>OBJECTIVES</vt:lpstr>
      <vt:lpstr>6</vt:lpstr>
      <vt:lpstr>LITERATURE REVIEW</vt:lpstr>
      <vt:lpstr>LITERATURE REVIEW</vt:lpstr>
      <vt:lpstr>COMPARISON</vt:lpstr>
      <vt:lpstr>SDN AND RYU OVERVIEW</vt:lpstr>
      <vt:lpstr>METHODOLOGY	11</vt:lpstr>
      <vt:lpstr>ALGORITHM DESIGN(DFS+BANDWIDTH COST)	12</vt:lpstr>
      <vt:lpstr>NETWORK ARCHITECTURE AND TOPOLOGY	13</vt:lpstr>
      <vt:lpstr>NETWORK ARCHITECTURE AND TOPOLOGY</vt:lpstr>
      <vt:lpstr>SIMULATION ENVIRONMENT</vt:lpstr>
      <vt:lpstr>RESULT AND ANALYSIS</vt:lpstr>
      <vt:lpstr>Result Analysis	in Mininet-Ryu Setup</vt:lpstr>
      <vt:lpstr>ADVANTAGES AND APPLICATIONS</vt:lpstr>
      <vt:lpstr>CONCLUSION	19</vt:lpstr>
      <vt:lpstr>REFERENCES	20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/>
  <cp:lastModifiedBy>Nikhitha G</cp:lastModifiedBy>
  <cp:revision>1</cp:revision>
  <dcterms:created xsi:type="dcterms:W3CDTF">2025-10-22T16:38:36Z</dcterms:created>
  <dcterms:modified xsi:type="dcterms:W3CDTF">2025-10-22T16:38:36Z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2025-10-22T05:30:00Z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2025-10-22T05:30:00Z</vt:filetime>
  </property>
  <property fmtid="{D5CDD505-2E9C-101B-9397-08002B2CF9AE}" pid="5" name="SourceModified">
    <vt:lpwstr>D:20251022135926+05'30'</vt:lpwstr>
  </property>
  <property fmtid="{D5CDD505-2E9C-101B-9397-08002B2CF9AE}" pid="6" name="ICV">
    <vt:lpwstr>7BED6D5C660E4D5F944131906345E17C_12</vt:lpwstr>
  </property>
  <property fmtid="{D5CDD505-2E9C-101B-9397-08002B2CF9AE}" pid="7" name="KSOProductBuildVer">
    <vt:lpwstr>1033-12.2.0.22556</vt:lpwstr>
  </property>
</Properties>
</file>